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81" r:id="rId26"/>
    <p:sldId id="277" r:id="rId27"/>
    <p:sldId id="279" r:id="rId28"/>
    <p:sldId id="278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A163B6-165C-866A-EFD5-4F661B7CB1E2}" name="Jennifer Klett" initials="JK" userId="S::klett@dsinstitute.onmicrosoft.com::3bdb2a4b-561c-4ac5-955f-dcb09b522b9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85319B-35D5-6A80-A330-8271C84A70DA}" v="873" dt="2026-08-20T10:21:08.939"/>
    <p1510:client id="{C0F0FBD3-6067-44C5-881A-909D028E6A50}" v="167" dt="2026-08-21T06:51:23.719"/>
    <p1510:client id="{D349BD05-F5E5-4FC4-8A15-8EF466910691}" v="125" dt="2026-08-21T06:57:08.468"/>
    <p1510:client id="{E9E5641A-CA3B-650D-671E-99142EBFBA41}" v="34" dt="2026-08-20T06:58:11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148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Guten Tag und herzlich willkommen zu unserer Abschlusspräsentation. Ich beginne mit einem Zitat von einem der erfolgreichsten Investoren und Unternehmer der Welt, Warren Buffett. Seine erste Börsenregel lautet: „Verliere niemals Geld.“ Die zweite: „Vergiss niemals Regel Nummer eins.“ Diese Denkweise – Risiko zuerst, Rendite zweitrangig – ist der rote Faden unseres Projekts, der Aktien-Risikoampel.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Bevor wir in die Details einsteigen, kurz zur Einordnung, was dieses Projekt beinhaltet: </a:t>
            </a:r>
          </a:p>
          <a:p>
            <a:r>
              <a:rPr lang="en-US"/>
              <a:t>Wir haben keinen Rendite-Vorhersage-Algorithmus gebaut und auch keine Trading-Strategie, die den Markt schlagen soll. </a:t>
            </a:r>
          </a:p>
          <a:p>
            <a:r>
              <a:rPr lang="en-US"/>
              <a:t>Stattdessen haben wir ein Werkzeug zur Risikoeinschätzung entwickelt, das den aktuellen Zustand des Marktes einordnet und als Überwachungs-Tool dienen soll.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Unsere Präsentation gliedert sich in sechs Abschnitte. </a:t>
            </a:r>
          </a:p>
          <a:p>
            <a:r>
              <a:rPr lang="en-US"/>
              <a:t>Wir starten mit der Ausgangslage und Zielsetzung: Die Beantwortung der Frage warum wir das Risiko statt der Rendite in den Fokus stellen. </a:t>
            </a:r>
          </a:p>
          <a:p>
            <a:r>
              <a:rPr lang="en-US"/>
              <a:t>Danach unsere Vorgehensweise und die eingesetzten Tools. </a:t>
            </a:r>
          </a:p>
          <a:p>
            <a:r>
              <a:rPr lang="en-US"/>
              <a:t>Im dritten und umfangreichsten Abschnitt stellen wir die vier untersuchten Indikatorgruppen vor – gleitende Durchschnitte, Volatilitätsindizes, Marktbreite und Put-Call-Ratio – und die jeweils gewonnenen Erkenntnisse. </a:t>
            </a:r>
          </a:p>
          <a:p>
            <a:r>
              <a:rPr lang="en-US"/>
              <a:t>Darauf aufbauend zeigen wir, wie wir diese Einzelsignale zu einer kombinierten Risikoampel verdichtet haben. </a:t>
            </a:r>
          </a:p>
          <a:p>
            <a:r>
              <a:rPr lang="en-US"/>
              <a:t>Anschließend demonstrieren wir das daraus entstandene Streamlit-Dashboard live und schließen mit einem Fazit und Ausblick ab.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Wie bereits eingangs erwähnt ist unser Ziel eine Zustandsanalyse des aktuellen Marktes unter Risikogesichtspunkten. </a:t>
            </a:r>
            <a:endParaRPr lang="en-US"/>
          </a:p>
          <a:p>
            <a:r>
              <a:rPr lang="de-DE"/>
              <a:t>Bewusst nicht im Vordergrund steht die Rendite, sondern die Frage: Wie belastet ist der Markt gerade, und wie hoch ist das Risiko eines größeren Rückschlags? </a:t>
            </a:r>
          </a:p>
          <a:p>
            <a:r>
              <a:rPr lang="de-DE"/>
              <a:t>Diesen Ansatz haben wir universell angelegt, nicht auf einen einzelnen Markt zugeschnitten, sondern auf vier zentrale US-Aktienindizes angewendet: den S&amp;P 500, den Dow Jones Industrial Average, den Nasdaq 100 und den Russell 2000.</a:t>
            </a:r>
            <a:br>
              <a:rPr lang="de-DE"/>
            </a:br>
            <a:endParaRPr lang="de-DE"/>
          </a:p>
          <a:p>
            <a:r>
              <a:rPr lang="de-DE"/>
              <a:t>Diese vier haben wir bewusst gewählt, weil sie unterschiedliche Marktsegmente abdecken: der S&amp;P 500 als breiter Large-Cap-Standard (also an den Börsen etablierte, finanzstarke Großkonzerne), der Dow Jones als traditioneller, preisgewichteter Blue-Chip-Index, der Nasdaq 100 technologie- und wachstumslastig, und der Russell 2000 als Small-Cap-Segment mit tendenziell höherer Volatilität. </a:t>
            </a:r>
          </a:p>
          <a:p>
            <a:r>
              <a:rPr lang="de-DE"/>
              <a:t>Damit prüfen wir, ob unsere Ampel-Logik wirklich universell funktioniert – also mit ein und derselben Signal-Kombination über ganz unterschiedliche Marktcharakteristika hinweg –, statt nur auf ein einzelnes Segment zugeschnitten zu sein.</a:t>
            </a:r>
          </a:p>
          <a:p>
            <a:endParaRPr lang="de-DE"/>
          </a:p>
          <a:p>
            <a:r>
              <a:rPr lang="de-DE"/>
              <a:t>Unsere Daten reichen zurück bis 2007, aus zwei Gründen: Zum einen ist das der früheste Zeitpunkt, an dem für alle vier Indizes durchgängig Kurs-, Marktbreite- und Volatilitätsdaten vorliegen. Zum anderen deckt dieser Zeitraum bewusst mehrere sehr unterschiedliche Krisenszenarien ab – die Finanzkrise 2008, den Corona-Crash 2020 und den Bärenmarkt 2022 –, was uns erlaubt, die Robustheit unseres Risikosystems über verschiedene Krisentypen hinweg zu prüfen, nicht nur anhand eines einzelnen Ereignisses.</a:t>
            </a:r>
          </a:p>
          <a:p>
            <a:endParaRPr lang="de-DE"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Nun </a:t>
            </a:r>
            <a:r>
              <a:rPr lang="en-US" dirty="0" err="1"/>
              <a:t>zu</a:t>
            </a:r>
            <a:r>
              <a:rPr lang="en-US" dirty="0"/>
              <a:t> der Frage: "</a:t>
            </a:r>
            <a:r>
              <a:rPr lang="en-US" dirty="0" err="1"/>
              <a:t>Warum</a:t>
            </a:r>
            <a:r>
              <a:rPr lang="en-US" dirty="0"/>
              <a:t> </a:t>
            </a:r>
            <a:r>
              <a:rPr lang="en-US" dirty="0" err="1"/>
              <a:t>stellen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das Risiko </a:t>
            </a:r>
            <a:r>
              <a:rPr lang="en-US" dirty="0" err="1"/>
              <a:t>über</a:t>
            </a:r>
            <a:r>
              <a:rPr lang="en-US" dirty="0"/>
              <a:t> die </a:t>
            </a:r>
            <a:r>
              <a:rPr lang="en-US" dirty="0" err="1"/>
              <a:t>Rendite</a:t>
            </a:r>
            <a:r>
              <a:rPr lang="en-US" dirty="0"/>
              <a:t>?" </a:t>
            </a:r>
          </a:p>
          <a:p>
            <a:r>
              <a:rPr lang="en-US" dirty="0" err="1"/>
              <a:t>Dafür</a:t>
            </a:r>
            <a:r>
              <a:rPr lang="en-US" dirty="0"/>
              <a:t> </a:t>
            </a:r>
            <a:r>
              <a:rPr lang="en-US" dirty="0" err="1"/>
              <a:t>gibt</a:t>
            </a:r>
            <a:r>
              <a:rPr lang="en-US" dirty="0"/>
              <a:t> es vier </a:t>
            </a:r>
            <a:r>
              <a:rPr lang="en-US" dirty="0" err="1"/>
              <a:t>Gründe</a:t>
            </a:r>
            <a:r>
              <a:rPr lang="en-US" dirty="0"/>
              <a:t>. </a:t>
            </a:r>
          </a:p>
          <a:p>
            <a:r>
              <a:rPr lang="en-US" dirty="0" err="1"/>
              <a:t>Erstens</a:t>
            </a:r>
            <a:r>
              <a:rPr lang="en-US" dirty="0"/>
              <a:t>, die </a:t>
            </a:r>
            <a:r>
              <a:rPr lang="en-US" dirty="0" err="1"/>
              <a:t>Psychologie</a:t>
            </a:r>
            <a:r>
              <a:rPr lang="en-US" dirty="0"/>
              <a:t> </a:t>
            </a:r>
            <a:r>
              <a:rPr lang="en-US" dirty="0" err="1"/>
              <a:t>eines</a:t>
            </a:r>
            <a:r>
              <a:rPr lang="en-US" dirty="0"/>
              <a:t> </a:t>
            </a:r>
            <a:r>
              <a:rPr lang="en-US" dirty="0" err="1"/>
              <a:t>Anlegers</a:t>
            </a:r>
            <a:r>
              <a:rPr lang="en-US" dirty="0"/>
              <a:t>: Zu </a:t>
            </a:r>
            <a:r>
              <a:rPr lang="en-US" dirty="0" err="1"/>
              <a:t>hohe</a:t>
            </a:r>
            <a:r>
              <a:rPr lang="en-US" dirty="0"/>
              <a:t> </a:t>
            </a:r>
            <a:r>
              <a:rPr lang="en-US" dirty="0" err="1"/>
              <a:t>Risiken</a:t>
            </a:r>
            <a:r>
              <a:rPr lang="en-US" dirty="0"/>
              <a:t> </a:t>
            </a:r>
            <a:r>
              <a:rPr lang="en-US" dirty="0" err="1"/>
              <a:t>führen</a:t>
            </a:r>
            <a:r>
              <a:rPr lang="en-US" dirty="0"/>
              <a:t> </a:t>
            </a:r>
            <a:r>
              <a:rPr lang="en-US" dirty="0" err="1"/>
              <a:t>erfahrungsgemäß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frühzeitigen</a:t>
            </a:r>
            <a:r>
              <a:rPr lang="en-US" dirty="0"/>
              <a:t>, emotional </a:t>
            </a:r>
            <a:r>
              <a:rPr lang="en-US" dirty="0" err="1"/>
              <a:t>getriebenen</a:t>
            </a:r>
            <a:r>
              <a:rPr lang="en-US" dirty="0"/>
              <a:t> </a:t>
            </a:r>
            <a:r>
              <a:rPr lang="en-US" dirty="0" err="1"/>
              <a:t>Ausstieg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einem</a:t>
            </a:r>
            <a:r>
              <a:rPr lang="en-US" dirty="0"/>
              <a:t> Investment – und das </a:t>
            </a:r>
            <a:r>
              <a:rPr lang="en-US" dirty="0" err="1"/>
              <a:t>genau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falschen</a:t>
            </a:r>
            <a:r>
              <a:rPr lang="en-US" dirty="0"/>
              <a:t> Moment. </a:t>
            </a:r>
          </a:p>
          <a:p>
            <a:endParaRPr lang="en-US" dirty="0"/>
          </a:p>
          <a:p>
            <a:r>
              <a:rPr lang="en-US" dirty="0" err="1"/>
              <a:t>Zweitens</a:t>
            </a:r>
            <a:r>
              <a:rPr lang="en-US" dirty="0"/>
              <a:t>, die </a:t>
            </a:r>
            <a:r>
              <a:rPr lang="en-US" dirty="0" err="1"/>
              <a:t>Erholung</a:t>
            </a:r>
            <a:r>
              <a:rPr lang="en-US" dirty="0"/>
              <a:t>: </a:t>
            </a:r>
            <a:r>
              <a:rPr lang="en-US" dirty="0" err="1"/>
              <a:t>Wer</a:t>
            </a:r>
            <a:r>
              <a:rPr lang="en-US" dirty="0"/>
              <a:t> </a:t>
            </a:r>
            <a:r>
              <a:rPr lang="en-US" dirty="0" err="1"/>
              <a:t>starke</a:t>
            </a:r>
            <a:r>
              <a:rPr lang="en-US" dirty="0"/>
              <a:t> Verlustphasen </a:t>
            </a:r>
            <a:r>
              <a:rPr lang="en-US" dirty="0" err="1"/>
              <a:t>meidet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abmildert</a:t>
            </a:r>
            <a:r>
              <a:rPr lang="en-US" dirty="0"/>
              <a:t>, </a:t>
            </a:r>
            <a:r>
              <a:rPr lang="en-US" dirty="0" err="1"/>
              <a:t>kann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von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höheren</a:t>
            </a:r>
            <a:r>
              <a:rPr lang="en-US" dirty="0"/>
              <a:t> </a:t>
            </a:r>
            <a:r>
              <a:rPr lang="en-US" dirty="0" err="1"/>
              <a:t>Niveau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erholen</a:t>
            </a:r>
            <a:r>
              <a:rPr lang="en-US" dirty="0"/>
              <a:t> –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Verlust</a:t>
            </a:r>
            <a:r>
              <a:rPr lang="en-US" dirty="0"/>
              <a:t> von 50 </a:t>
            </a:r>
            <a:r>
              <a:rPr lang="en-US" dirty="0" err="1"/>
              <a:t>Prozent</a:t>
            </a:r>
            <a:r>
              <a:rPr lang="en-US" dirty="0"/>
              <a:t> </a:t>
            </a:r>
            <a:r>
              <a:rPr lang="en-US" dirty="0" err="1"/>
              <a:t>erfordert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Verdopplung</a:t>
            </a:r>
            <a:r>
              <a:rPr lang="en-US" dirty="0"/>
              <a:t>, um </a:t>
            </a:r>
            <a:r>
              <a:rPr lang="en-US" dirty="0" err="1"/>
              <a:t>ihn</a:t>
            </a:r>
            <a:r>
              <a:rPr lang="en-US" dirty="0"/>
              <a:t> </a:t>
            </a:r>
            <a:r>
              <a:rPr lang="en-US" dirty="0" err="1"/>
              <a:t>wieder</a:t>
            </a:r>
            <a:r>
              <a:rPr lang="en-US" dirty="0"/>
              <a:t> </a:t>
            </a:r>
            <a:r>
              <a:rPr lang="en-US" dirty="0" err="1"/>
              <a:t>auszugleichen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Drittens</a:t>
            </a:r>
            <a:r>
              <a:rPr lang="en-US" dirty="0"/>
              <a:t>: Die </a:t>
            </a:r>
            <a:r>
              <a:rPr lang="en-US" dirty="0" err="1"/>
              <a:t>Vermögensanlage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Marathon, </a:t>
            </a:r>
            <a:r>
              <a:rPr lang="en-US" dirty="0" err="1"/>
              <a:t>kein</a:t>
            </a:r>
            <a:r>
              <a:rPr lang="en-US" dirty="0"/>
              <a:t> Sprint – das </a:t>
            </a:r>
            <a:r>
              <a:rPr lang="en-US" dirty="0" err="1"/>
              <a:t>bedeutet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auf </a:t>
            </a:r>
            <a:r>
              <a:rPr lang="en-US" dirty="0" err="1"/>
              <a:t>lange</a:t>
            </a:r>
            <a:r>
              <a:rPr lang="en-US" dirty="0"/>
              <a:t> Sicht </a:t>
            </a:r>
            <a:r>
              <a:rPr lang="en-US" dirty="0" err="1"/>
              <a:t>angelegt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Und </a:t>
            </a:r>
            <a:r>
              <a:rPr lang="en-US" dirty="0" err="1"/>
              <a:t>viertens</a:t>
            </a:r>
            <a:r>
              <a:rPr lang="en-US" dirty="0"/>
              <a:t>, </a:t>
            </a:r>
            <a:r>
              <a:rPr lang="en-US" dirty="0" err="1"/>
              <a:t>Opportunitäten</a:t>
            </a:r>
            <a:r>
              <a:rPr lang="en-US" dirty="0"/>
              <a:t>: </a:t>
            </a:r>
            <a:r>
              <a:rPr lang="en-US" dirty="0" err="1"/>
              <a:t>Wer</a:t>
            </a:r>
            <a:r>
              <a:rPr lang="en-US" dirty="0"/>
              <a:t> Risiko </a:t>
            </a:r>
            <a:r>
              <a:rPr lang="en-US" dirty="0" err="1"/>
              <a:t>systematisch</a:t>
            </a:r>
            <a:r>
              <a:rPr lang="en-US" dirty="0"/>
              <a:t> </a:t>
            </a:r>
            <a:r>
              <a:rPr lang="en-US" dirty="0" err="1"/>
              <a:t>analysiert</a:t>
            </a:r>
            <a:r>
              <a:rPr lang="en-US" dirty="0"/>
              <a:t>, </a:t>
            </a:r>
            <a:r>
              <a:rPr lang="en-US" dirty="0" err="1"/>
              <a:t>erkennt</a:t>
            </a:r>
            <a:r>
              <a:rPr lang="en-US" dirty="0"/>
              <a:t> </a:t>
            </a:r>
            <a:r>
              <a:rPr lang="en-US" dirty="0" err="1"/>
              <a:t>gleichzeitig</a:t>
            </a:r>
            <a:r>
              <a:rPr lang="en-US" dirty="0"/>
              <a:t>, </a:t>
            </a:r>
            <a:r>
              <a:rPr lang="en-US" dirty="0" err="1"/>
              <a:t>wann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Chancen</a:t>
            </a:r>
            <a:r>
              <a:rPr lang="en-US" dirty="0"/>
              <a:t> </a:t>
            </a:r>
            <a:r>
              <a:rPr lang="en-US" dirty="0" err="1"/>
              <a:t>auftun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Gemessen</a:t>
            </a:r>
            <a:r>
              <a:rPr lang="en-US" dirty="0"/>
              <a:t>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dieses Risiko </a:t>
            </a:r>
            <a:r>
              <a:rPr lang="en-US" dirty="0" err="1"/>
              <a:t>über</a:t>
            </a:r>
            <a:r>
              <a:rPr lang="en-US" dirty="0"/>
              <a:t> den </a:t>
            </a:r>
            <a:r>
              <a:rPr lang="en-US" dirty="0" err="1"/>
              <a:t>sogenannten</a:t>
            </a:r>
            <a:r>
              <a:rPr lang="en-US" dirty="0"/>
              <a:t> Max-Drawdown, </a:t>
            </a:r>
            <a:r>
              <a:rPr lang="en-US" dirty="0" err="1"/>
              <a:t>betrachtet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30, 60 und 90 Tage. </a:t>
            </a:r>
          </a:p>
          <a:p>
            <a:r>
              <a:rPr lang="en-US" dirty="0"/>
              <a:t>Der Max-Drawdown </a:t>
            </a:r>
            <a:r>
              <a:rPr lang="en-US" dirty="0" err="1"/>
              <a:t>beschreibt</a:t>
            </a:r>
            <a:r>
              <a:rPr lang="en-US" dirty="0"/>
              <a:t> den </a:t>
            </a:r>
            <a:r>
              <a:rPr lang="en-US" dirty="0" err="1"/>
              <a:t>maximalen</a:t>
            </a:r>
            <a:r>
              <a:rPr lang="en-US" dirty="0"/>
              <a:t> </a:t>
            </a:r>
            <a:r>
              <a:rPr lang="en-US" dirty="0" err="1"/>
              <a:t>Verlust</a:t>
            </a:r>
            <a:r>
              <a:rPr lang="en-US" dirty="0"/>
              <a:t>, den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Anleger</a:t>
            </a:r>
            <a:r>
              <a:rPr lang="en-US" dirty="0"/>
              <a:t> </a:t>
            </a:r>
            <a:r>
              <a:rPr lang="en-US" dirty="0" err="1"/>
              <a:t>erlitten</a:t>
            </a:r>
            <a:r>
              <a:rPr lang="en-US" dirty="0"/>
              <a:t> </a:t>
            </a:r>
            <a:r>
              <a:rPr lang="en-US" dirty="0" err="1"/>
              <a:t>hätte</a:t>
            </a:r>
            <a:r>
              <a:rPr lang="en-US" dirty="0"/>
              <a:t>, </a:t>
            </a:r>
            <a:r>
              <a:rPr lang="en-US" dirty="0" err="1"/>
              <a:t>wenn</a:t>
            </a:r>
            <a:r>
              <a:rPr lang="en-US" dirty="0"/>
              <a:t> er </a:t>
            </a:r>
            <a:r>
              <a:rPr lang="en-US" dirty="0" err="1"/>
              <a:t>exakt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Höchststand</a:t>
            </a:r>
            <a:r>
              <a:rPr lang="en-US" dirty="0"/>
              <a:t> </a:t>
            </a:r>
            <a:r>
              <a:rPr lang="en-US" dirty="0" err="1"/>
              <a:t>gekauft</a:t>
            </a:r>
            <a:r>
              <a:rPr lang="en-US" dirty="0"/>
              <a:t> und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darauffolgenden</a:t>
            </a:r>
            <a:r>
              <a:rPr lang="en-US" dirty="0"/>
              <a:t> </a:t>
            </a:r>
            <a:r>
              <a:rPr lang="en-US" dirty="0" err="1"/>
              <a:t>Tiefpunkt</a:t>
            </a:r>
            <a:r>
              <a:rPr lang="en-US" dirty="0"/>
              <a:t> </a:t>
            </a:r>
            <a:r>
              <a:rPr lang="en-US" dirty="0" err="1"/>
              <a:t>wieder</a:t>
            </a:r>
            <a:r>
              <a:rPr lang="en-US" dirty="0"/>
              <a:t> </a:t>
            </a:r>
            <a:r>
              <a:rPr lang="en-US" dirty="0" err="1"/>
              <a:t>verkauft</a:t>
            </a:r>
            <a:r>
              <a:rPr lang="en-US" dirty="0"/>
              <a:t> </a:t>
            </a:r>
            <a:r>
              <a:rPr lang="en-US" dirty="0" err="1"/>
              <a:t>hätte</a:t>
            </a:r>
            <a:r>
              <a:rPr lang="en-US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Unsere</a:t>
            </a:r>
            <a:r>
              <a:rPr lang="en-US"/>
              <a:t> </a:t>
            </a:r>
            <a:r>
              <a:rPr lang="en-US" err="1"/>
              <a:t>Vorgehensweise</a:t>
            </a:r>
            <a:r>
              <a:rPr lang="en-US"/>
              <a:t> </a:t>
            </a:r>
            <a:r>
              <a:rPr lang="en-US" err="1"/>
              <a:t>gliedert</a:t>
            </a:r>
            <a:r>
              <a:rPr lang="en-US"/>
              <a:t> </a:t>
            </a:r>
            <a:r>
              <a:rPr lang="en-US" err="1"/>
              <a:t>sich</a:t>
            </a:r>
            <a:r>
              <a:rPr lang="en-US"/>
              <a:t> in </a:t>
            </a:r>
            <a:r>
              <a:rPr lang="en-US" err="1"/>
              <a:t>sechs</a:t>
            </a:r>
            <a:r>
              <a:rPr lang="en-US"/>
              <a:t> </a:t>
            </a:r>
            <a:r>
              <a:rPr lang="en-US" err="1"/>
              <a:t>Schritte</a:t>
            </a:r>
            <a:r>
              <a:rPr lang="en-US"/>
              <a:t>. </a:t>
            </a:r>
          </a:p>
          <a:p>
            <a:r>
              <a:rPr lang="en-US" err="1"/>
              <a:t>Zuerst</a:t>
            </a:r>
            <a:r>
              <a:rPr lang="en-US"/>
              <a:t> die </a:t>
            </a:r>
            <a:r>
              <a:rPr lang="en-US" err="1"/>
              <a:t>Projektorganisation</a:t>
            </a:r>
            <a:r>
              <a:rPr lang="en-US"/>
              <a:t> </a:t>
            </a:r>
            <a:r>
              <a:rPr lang="en-US" err="1"/>
              <a:t>über</a:t>
            </a:r>
            <a:r>
              <a:rPr lang="en-US"/>
              <a:t> Trello. </a:t>
            </a:r>
            <a:r>
              <a:rPr lang="en-US" err="1"/>
              <a:t>Hierüber</a:t>
            </a:r>
            <a:r>
              <a:rPr lang="en-US"/>
              <a:t> </a:t>
            </a:r>
            <a:r>
              <a:rPr lang="en-US" err="1"/>
              <a:t>haben</a:t>
            </a:r>
            <a:r>
              <a:rPr lang="en-US"/>
              <a:t> </a:t>
            </a:r>
            <a:r>
              <a:rPr lang="en-US" err="1"/>
              <a:t>wir</a:t>
            </a:r>
            <a:r>
              <a:rPr lang="en-US"/>
              <a:t> </a:t>
            </a:r>
            <a:r>
              <a:rPr lang="en-US" err="1"/>
              <a:t>unsere</a:t>
            </a:r>
            <a:r>
              <a:rPr lang="en-US"/>
              <a:t> </a:t>
            </a:r>
            <a:r>
              <a:rPr lang="en-US" err="1"/>
              <a:t>Aufgaben</a:t>
            </a:r>
            <a:r>
              <a:rPr lang="en-US"/>
              <a:t> </a:t>
            </a:r>
            <a:r>
              <a:rPr lang="en-US" err="1"/>
              <a:t>geplant</a:t>
            </a:r>
            <a:r>
              <a:rPr lang="en-US"/>
              <a:t> und </a:t>
            </a:r>
            <a:r>
              <a:rPr lang="en-US" err="1"/>
              <a:t>verteilt</a:t>
            </a:r>
            <a:r>
              <a:rPr lang="en-US"/>
              <a:t>. Für die </a:t>
            </a:r>
            <a:r>
              <a:rPr lang="en-US" err="1"/>
              <a:t>Versionskontrolle</a:t>
            </a:r>
            <a:r>
              <a:rPr lang="en-US"/>
              <a:t> </a:t>
            </a:r>
            <a:r>
              <a:rPr lang="en-US" err="1"/>
              <a:t>im</a:t>
            </a:r>
            <a:r>
              <a:rPr lang="en-US"/>
              <a:t> Team </a:t>
            </a:r>
            <a:r>
              <a:rPr lang="en-US" err="1"/>
              <a:t>haben</a:t>
            </a:r>
            <a:r>
              <a:rPr lang="en-US"/>
              <a:t> </a:t>
            </a:r>
            <a:r>
              <a:rPr lang="en-US" err="1"/>
              <a:t>wir</a:t>
            </a:r>
            <a:r>
              <a:rPr lang="en-US"/>
              <a:t> </a:t>
            </a:r>
            <a:r>
              <a:rPr lang="en-US" err="1"/>
              <a:t>Github</a:t>
            </a:r>
            <a:r>
              <a:rPr lang="en-US"/>
              <a:t> </a:t>
            </a:r>
            <a:r>
              <a:rPr lang="en-US" err="1"/>
              <a:t>eingesetzt</a:t>
            </a:r>
            <a:r>
              <a:rPr lang="en-US"/>
              <a:t>. </a:t>
            </a:r>
          </a:p>
          <a:p>
            <a:r>
              <a:rPr lang="en-US"/>
              <a:t>Die </a:t>
            </a:r>
            <a:r>
              <a:rPr lang="en-US" err="1"/>
              <a:t>Datenbeschaffung</a:t>
            </a:r>
            <a:r>
              <a:rPr lang="en-US"/>
              <a:t> </a:t>
            </a:r>
            <a:r>
              <a:rPr lang="en-US" err="1"/>
              <a:t>erfolgte</a:t>
            </a:r>
            <a:r>
              <a:rPr lang="en-US"/>
              <a:t> </a:t>
            </a:r>
            <a:r>
              <a:rPr lang="en-US" err="1"/>
              <a:t>hauptsächlich</a:t>
            </a:r>
            <a:r>
              <a:rPr lang="en-US"/>
              <a:t> </a:t>
            </a:r>
            <a:r>
              <a:rPr lang="en-US" err="1"/>
              <a:t>über</a:t>
            </a:r>
            <a:r>
              <a:rPr lang="en-US"/>
              <a:t> Yahoo Finance </a:t>
            </a:r>
            <a:r>
              <a:rPr lang="en-US" err="1"/>
              <a:t>mit</a:t>
            </a:r>
            <a:r>
              <a:rPr lang="en-US"/>
              <a:t> pandas und CBOE. </a:t>
            </a:r>
          </a:p>
          <a:p>
            <a:r>
              <a:rPr lang="en-US" err="1"/>
              <a:t>Anschließend</a:t>
            </a:r>
            <a:r>
              <a:rPr lang="en-US"/>
              <a:t> </a:t>
            </a:r>
            <a:r>
              <a:rPr lang="en-US" err="1"/>
              <a:t>wurden</a:t>
            </a:r>
            <a:r>
              <a:rPr lang="en-US"/>
              <a:t> die </a:t>
            </a:r>
            <a:r>
              <a:rPr lang="en-US" err="1"/>
              <a:t>Daten</a:t>
            </a:r>
            <a:r>
              <a:rPr lang="en-US"/>
              <a:t> </a:t>
            </a:r>
            <a:r>
              <a:rPr lang="en-US" err="1"/>
              <a:t>gesichtet</a:t>
            </a:r>
            <a:r>
              <a:rPr lang="en-US"/>
              <a:t> und </a:t>
            </a:r>
            <a:r>
              <a:rPr lang="en-US" err="1"/>
              <a:t>bereinigt</a:t>
            </a:r>
            <a:r>
              <a:rPr lang="en-US"/>
              <a:t>, </a:t>
            </a:r>
            <a:r>
              <a:rPr lang="en-US" err="1"/>
              <a:t>ebenfalls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 pandas und NumPy. </a:t>
            </a:r>
          </a:p>
          <a:p>
            <a:r>
              <a:rPr lang="en-US" err="1"/>
              <a:t>Im</a:t>
            </a:r>
            <a:r>
              <a:rPr lang="en-US"/>
              <a:t> </a:t>
            </a:r>
            <a:r>
              <a:rPr lang="en-US" err="1"/>
              <a:t>vierten</a:t>
            </a:r>
            <a:r>
              <a:rPr lang="en-US"/>
              <a:t> Schritt </a:t>
            </a:r>
            <a:r>
              <a:rPr lang="en-US" err="1"/>
              <a:t>dann</a:t>
            </a:r>
            <a:r>
              <a:rPr lang="en-US"/>
              <a:t> die explorative </a:t>
            </a:r>
            <a:r>
              <a:rPr lang="en-US" err="1"/>
              <a:t>Datenanalyse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 matplotlib und seaborn, um </a:t>
            </a:r>
            <a:r>
              <a:rPr lang="en-US" err="1"/>
              <a:t>erste</a:t>
            </a:r>
            <a:r>
              <a:rPr lang="en-US"/>
              <a:t> Muster und </a:t>
            </a:r>
            <a:r>
              <a:rPr lang="en-US" err="1"/>
              <a:t>Zusammenhänge</a:t>
            </a:r>
            <a:r>
              <a:rPr lang="en-US"/>
              <a:t> </a:t>
            </a:r>
            <a:r>
              <a:rPr lang="en-US" err="1"/>
              <a:t>sichtbar</a:t>
            </a:r>
            <a:r>
              <a:rPr lang="en-US"/>
              <a:t> </a:t>
            </a:r>
            <a:r>
              <a:rPr lang="en-US" err="1"/>
              <a:t>zu</a:t>
            </a:r>
            <a:r>
              <a:rPr lang="en-US"/>
              <a:t> </a:t>
            </a:r>
            <a:r>
              <a:rPr lang="en-US" err="1"/>
              <a:t>machen</a:t>
            </a:r>
            <a:r>
              <a:rPr lang="en-US"/>
              <a:t> </a:t>
            </a:r>
            <a:r>
              <a:rPr lang="en-US" err="1"/>
              <a:t>sowie</a:t>
            </a:r>
            <a:r>
              <a:rPr lang="en-US"/>
              <a:t> </a:t>
            </a:r>
            <a:r>
              <a:rPr lang="en-US" err="1"/>
              <a:t>scipy</a:t>
            </a:r>
            <a:r>
              <a:rPr lang="en-US"/>
              <a:t> für die </a:t>
            </a:r>
            <a:r>
              <a:rPr lang="en-US" err="1"/>
              <a:t>statistischen</a:t>
            </a:r>
            <a:r>
              <a:rPr lang="en-US"/>
              <a:t> Tests, </a:t>
            </a:r>
            <a:r>
              <a:rPr lang="en-US" err="1"/>
              <a:t>mit</a:t>
            </a:r>
            <a:r>
              <a:rPr lang="en-US"/>
              <a:t> </a:t>
            </a:r>
            <a:r>
              <a:rPr lang="en-US" err="1"/>
              <a:t>denen</a:t>
            </a:r>
            <a:r>
              <a:rPr lang="en-US"/>
              <a:t> </a:t>
            </a:r>
            <a:r>
              <a:rPr lang="en-US" err="1"/>
              <a:t>wir</a:t>
            </a:r>
            <a:r>
              <a:rPr lang="en-US"/>
              <a:t> </a:t>
            </a:r>
            <a:r>
              <a:rPr lang="en-US" err="1"/>
              <a:t>unsere</a:t>
            </a:r>
            <a:r>
              <a:rPr lang="en-US"/>
              <a:t> </a:t>
            </a:r>
            <a:r>
              <a:rPr lang="en-US" err="1"/>
              <a:t>Signalhypothesen</a:t>
            </a:r>
            <a:r>
              <a:rPr lang="en-US"/>
              <a:t> </a:t>
            </a:r>
            <a:r>
              <a:rPr lang="en-US" err="1"/>
              <a:t>absichern</a:t>
            </a:r>
            <a:r>
              <a:rPr lang="en-US"/>
              <a:t>. </a:t>
            </a:r>
          </a:p>
          <a:p>
            <a:r>
              <a:rPr lang="en-US" err="1"/>
              <a:t>Danach</a:t>
            </a:r>
            <a:r>
              <a:rPr lang="en-US"/>
              <a:t> </a:t>
            </a:r>
            <a:r>
              <a:rPr lang="en-US" err="1"/>
              <a:t>Zeitreihenanalyse</a:t>
            </a:r>
            <a:r>
              <a:rPr lang="en-US"/>
              <a:t>, das </a:t>
            </a:r>
            <a:r>
              <a:rPr lang="en-US" err="1"/>
              <a:t>Zusammenführen</a:t>
            </a:r>
            <a:r>
              <a:rPr lang="en-US"/>
              <a:t> der </a:t>
            </a:r>
            <a:r>
              <a:rPr lang="en-US" err="1"/>
              <a:t>verschiedenen</a:t>
            </a:r>
            <a:r>
              <a:rPr lang="en-US"/>
              <a:t> </a:t>
            </a:r>
            <a:r>
              <a:rPr lang="en-US" err="1"/>
              <a:t>Datenquellen</a:t>
            </a:r>
            <a:r>
              <a:rPr lang="en-US"/>
              <a:t> und die </a:t>
            </a:r>
            <a:r>
              <a:rPr lang="en-US" err="1"/>
              <a:t>eigentliche</a:t>
            </a:r>
            <a:r>
              <a:rPr lang="en-US"/>
              <a:t> </a:t>
            </a:r>
            <a:r>
              <a:rPr lang="en-US" err="1"/>
              <a:t>Modellierung</a:t>
            </a:r>
            <a:r>
              <a:rPr lang="en-US"/>
              <a:t> der Ampel-</a:t>
            </a:r>
            <a:r>
              <a:rPr lang="en-US" err="1"/>
              <a:t>Logik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 pandas. </a:t>
            </a:r>
          </a:p>
          <a:p>
            <a:r>
              <a:rPr lang="en-US"/>
              <a:t>Und </a:t>
            </a:r>
            <a:r>
              <a:rPr lang="en-US" err="1"/>
              <a:t>zum</a:t>
            </a:r>
            <a:r>
              <a:rPr lang="en-US"/>
              <a:t> </a:t>
            </a:r>
            <a:r>
              <a:rPr lang="en-US" err="1"/>
              <a:t>Schluss</a:t>
            </a:r>
            <a:r>
              <a:rPr lang="en-US"/>
              <a:t> die </a:t>
            </a:r>
            <a:r>
              <a:rPr lang="en-US" err="1"/>
              <a:t>Visualisierung</a:t>
            </a:r>
            <a:r>
              <a:rPr lang="en-US"/>
              <a:t> – das </a:t>
            </a:r>
            <a:r>
              <a:rPr lang="en-US" err="1"/>
              <a:t>Streamlit</a:t>
            </a:r>
            <a:r>
              <a:rPr lang="en-US"/>
              <a:t>-Dashboard, das </a:t>
            </a:r>
            <a:r>
              <a:rPr lang="en-US" err="1"/>
              <a:t>wir</a:t>
            </a:r>
            <a:r>
              <a:rPr lang="en-US"/>
              <a:t> Ihnen </a:t>
            </a:r>
            <a:r>
              <a:rPr lang="en-US" err="1"/>
              <a:t>später</a:t>
            </a:r>
            <a:r>
              <a:rPr lang="en-US"/>
              <a:t> </a:t>
            </a:r>
            <a:r>
              <a:rPr lang="en-US" err="1"/>
              <a:t>noch</a:t>
            </a:r>
            <a:r>
              <a:rPr lang="en-US"/>
              <a:t> live </a:t>
            </a:r>
            <a:r>
              <a:rPr lang="en-US" err="1"/>
              <a:t>zeigen</a:t>
            </a:r>
            <a:r>
              <a:rPr lang="en-US"/>
              <a:t>. </a:t>
            </a:r>
            <a:r>
              <a:rPr lang="en-US" err="1"/>
              <a:t>Unterstützung</a:t>
            </a:r>
            <a:r>
              <a:rPr lang="en-US"/>
              <a:t> </a:t>
            </a:r>
            <a:r>
              <a:rPr lang="en-US" err="1"/>
              <a:t>durch</a:t>
            </a:r>
            <a:r>
              <a:rPr lang="en-US"/>
              <a:t> 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Vier Signalgruppen bilden die Grundlage unserer Risikoampel, jede beleuchtet den Markt aus einer anderen Perspektive: gleitende Durchschnitte für die Trendbestimmung, Volatilitätsindizes als Angstbarometer, Marktbreiteindikatoren für die Frage, wie breit eine Kursbewegung im Index getragen wird, und die Put-/Call-Ratio als Verhältnis von Absicherungs- zu Spekulationsbedürfnis.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Der </a:t>
            </a:r>
            <a:r>
              <a:rPr err="1"/>
              <a:t>gleitende</a:t>
            </a:r>
            <a:r>
              <a:t> </a:t>
            </a:r>
            <a:r>
              <a:rPr err="1"/>
              <a:t>Durchschnitt</a:t>
            </a:r>
            <a:r>
              <a:t>, </a:t>
            </a:r>
            <a:r>
              <a:rPr err="1"/>
              <a:t>kurz</a:t>
            </a:r>
            <a:r>
              <a:t> SMA, </a:t>
            </a:r>
            <a:r>
              <a:rPr err="1"/>
              <a:t>ist</a:t>
            </a:r>
            <a:r>
              <a:t> </a:t>
            </a:r>
            <a:r>
              <a:rPr err="1"/>
              <a:t>ein</a:t>
            </a:r>
            <a:r>
              <a:t> </a:t>
            </a:r>
            <a:r>
              <a:rPr err="1"/>
              <a:t>klassischer</a:t>
            </a:r>
            <a:r>
              <a:t> </a:t>
            </a:r>
            <a:r>
              <a:rPr err="1"/>
              <a:t>Trendindikator</a:t>
            </a:r>
            <a:r>
              <a:t>: der </a:t>
            </a:r>
            <a:r>
              <a:rPr err="1"/>
              <a:t>Durchschnittspreis</a:t>
            </a:r>
            <a:r>
              <a:t> </a:t>
            </a:r>
            <a:r>
              <a:rPr err="1"/>
              <a:t>eines</a:t>
            </a:r>
            <a:r>
              <a:t> Index </a:t>
            </a:r>
            <a:r>
              <a:rPr err="1"/>
              <a:t>über</a:t>
            </a:r>
            <a:r>
              <a:t> </a:t>
            </a:r>
            <a:r>
              <a:rPr err="1"/>
              <a:t>einen</a:t>
            </a:r>
            <a:r>
              <a:t> </a:t>
            </a:r>
            <a:r>
              <a:rPr err="1"/>
              <a:t>bestimmten</a:t>
            </a:r>
            <a:r>
              <a:t> </a:t>
            </a:r>
            <a:r>
              <a:rPr err="1"/>
              <a:t>Zeitraum</a:t>
            </a:r>
            <a:r>
              <a:t> – </a:t>
            </a:r>
            <a:r>
              <a:rPr err="1"/>
              <a:t>wir</a:t>
            </a:r>
            <a:r>
              <a:t> </a:t>
            </a:r>
            <a:r>
              <a:rPr err="1"/>
              <a:t>haben</a:t>
            </a:r>
            <a:r>
              <a:t> 20, 100 und 200 </a:t>
            </a:r>
            <a:r>
              <a:rPr err="1"/>
              <a:t>Handelstage</a:t>
            </a:r>
            <a:r>
              <a:t> </a:t>
            </a:r>
            <a:r>
              <a:rPr err="1"/>
              <a:t>untersucht</a:t>
            </a:r>
            <a:r>
              <a:t>. Er </a:t>
            </a:r>
            <a:r>
              <a:rPr err="1"/>
              <a:t>wurde</a:t>
            </a:r>
            <a:r>
              <a:t> </a:t>
            </a:r>
            <a:r>
              <a:rPr err="1"/>
              <a:t>ausgewählt</a:t>
            </a:r>
            <a:r>
              <a:t>, </a:t>
            </a:r>
            <a:r>
              <a:rPr err="1"/>
              <a:t>weil</a:t>
            </a:r>
            <a:r>
              <a:t> er </a:t>
            </a:r>
            <a:r>
              <a:rPr err="1"/>
              <a:t>eine</a:t>
            </a:r>
            <a:r>
              <a:t> </a:t>
            </a:r>
            <a:r>
              <a:rPr err="1"/>
              <a:t>sofortige</a:t>
            </a:r>
            <a:r>
              <a:t>, </a:t>
            </a:r>
            <a:r>
              <a:rPr err="1"/>
              <a:t>leicht</a:t>
            </a:r>
            <a:r>
              <a:t> </a:t>
            </a:r>
            <a:r>
              <a:rPr err="1"/>
              <a:t>verständliche</a:t>
            </a:r>
            <a:r>
              <a:t> </a:t>
            </a:r>
            <a:r>
              <a:rPr err="1"/>
              <a:t>Trenderkennung</a:t>
            </a:r>
            <a:r>
              <a:t> </a:t>
            </a:r>
            <a:r>
              <a:rPr err="1"/>
              <a:t>erlaubt</a:t>
            </a:r>
            <a:r>
              <a:t>, </a:t>
            </a:r>
            <a:r>
              <a:rPr err="1"/>
              <a:t>ob</a:t>
            </a:r>
            <a:r>
              <a:t> der Markt </a:t>
            </a:r>
            <a:r>
              <a:rPr err="1"/>
              <a:t>gerade</a:t>
            </a:r>
            <a:r>
              <a:t> </a:t>
            </a:r>
            <a:r>
              <a:rPr err="1"/>
              <a:t>bullisch</a:t>
            </a:r>
            <a:r>
              <a:t> </a:t>
            </a:r>
            <a:r>
              <a:rPr err="1"/>
              <a:t>oder</a:t>
            </a:r>
            <a:r>
              <a:t> </a:t>
            </a:r>
            <a:r>
              <a:rPr err="1"/>
              <a:t>bärisch</a:t>
            </a:r>
            <a:r>
              <a:t> </a:t>
            </a:r>
            <a:r>
              <a:rPr err="1"/>
              <a:t>tendiert</a:t>
            </a:r>
            <a:r>
              <a:t>. Die </a:t>
            </a:r>
            <a:r>
              <a:rPr err="1"/>
              <a:t>Grafik</a:t>
            </a:r>
            <a:r>
              <a:t> </a:t>
            </a:r>
            <a:r>
              <a:rPr err="1"/>
              <a:t>zeigt</a:t>
            </a:r>
            <a:r>
              <a:t> den S&amp;P 500 </a:t>
            </a:r>
            <a:r>
              <a:rPr err="1"/>
              <a:t>gemeinsam</a:t>
            </a:r>
            <a:r>
              <a:t> </a:t>
            </a:r>
            <a:r>
              <a:rPr err="1"/>
              <a:t>mit</a:t>
            </a:r>
            <a:r>
              <a:t> </a:t>
            </a:r>
            <a:r>
              <a:rPr err="1"/>
              <a:t>seinem</a:t>
            </a:r>
            <a:r>
              <a:t> SMA200</a:t>
            </a:r>
            <a:r>
              <a:rPr lang="de-DE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Für den SMA </a:t>
            </a:r>
            <a:r>
              <a:rPr err="1"/>
              <a:t>haben</a:t>
            </a:r>
            <a:r>
              <a:t> </a:t>
            </a:r>
            <a:r>
              <a:rPr err="1"/>
              <a:t>wir</a:t>
            </a:r>
            <a:r>
              <a:t> </a:t>
            </a:r>
            <a:r>
              <a:rPr lang="de-DE"/>
              <a:t>zahlreiche Hypothesen </a:t>
            </a:r>
            <a:r>
              <a:rPr err="1"/>
              <a:t>geprüft</a:t>
            </a:r>
            <a:r>
              <a:rPr lang="de-DE"/>
              <a:t>. Hier eine </a:t>
            </a:r>
            <a:r>
              <a:rPr lang="de-DE" err="1"/>
              <a:t>Auswahlt</a:t>
            </a:r>
            <a:r>
              <a:rPr lang="de-DE"/>
              <a:t> der signifikantesten:</a:t>
            </a:r>
            <a:r>
              <a:t> </a:t>
            </a:r>
            <a:r>
              <a:rPr err="1"/>
              <a:t>Liefert</a:t>
            </a:r>
            <a:r>
              <a:t> die Position des </a:t>
            </a:r>
            <a:r>
              <a:rPr err="1"/>
              <a:t>Kurses</a:t>
            </a:r>
            <a:r>
              <a:t> </a:t>
            </a:r>
            <a:r>
              <a:rPr err="1"/>
              <a:t>relativ</a:t>
            </a:r>
            <a:r>
              <a:t> </a:t>
            </a:r>
            <a:r>
              <a:rPr err="1"/>
              <a:t>zum</a:t>
            </a:r>
            <a:r>
              <a:t> SMA Information </a:t>
            </a:r>
            <a:r>
              <a:rPr err="1"/>
              <a:t>über</a:t>
            </a:r>
            <a:r>
              <a:t> die </a:t>
            </a:r>
            <a:r>
              <a:rPr err="1"/>
              <a:t>Folgeperiode</a:t>
            </a:r>
            <a:r>
              <a:t>? Die </a:t>
            </a:r>
            <a:r>
              <a:rPr err="1"/>
              <a:t>Richtung</a:t>
            </a:r>
            <a:r>
              <a:t> des SMA, also </a:t>
            </a:r>
            <a:r>
              <a:rPr err="1"/>
              <a:t>steigend</a:t>
            </a:r>
            <a:r>
              <a:t> </a:t>
            </a:r>
            <a:r>
              <a:rPr err="1"/>
              <a:t>oder</a:t>
            </a:r>
            <a:r>
              <a:t> </a:t>
            </a:r>
            <a:r>
              <a:rPr err="1"/>
              <a:t>fallend</a:t>
            </a:r>
            <a:r>
              <a:t>? Ein Death Cross, also das </a:t>
            </a:r>
            <a:r>
              <a:rPr err="1"/>
              <a:t>Kreuzen</a:t>
            </a:r>
            <a:r>
              <a:t> </a:t>
            </a:r>
            <a:r>
              <a:rPr err="1"/>
              <a:t>eines</a:t>
            </a:r>
            <a:r>
              <a:t> </a:t>
            </a:r>
            <a:r>
              <a:rPr err="1"/>
              <a:t>kurzfristigen</a:t>
            </a:r>
            <a:r>
              <a:t> </a:t>
            </a:r>
            <a:r>
              <a:rPr err="1"/>
              <a:t>unter</a:t>
            </a:r>
            <a:r>
              <a:t> </a:t>
            </a:r>
            <a:r>
              <a:rPr err="1"/>
              <a:t>einen</a:t>
            </a:r>
            <a:r>
              <a:t> </a:t>
            </a:r>
            <a:r>
              <a:rPr err="1"/>
              <a:t>langfristigen</a:t>
            </a:r>
            <a:r>
              <a:t> SMA? Und der </a:t>
            </a:r>
            <a:r>
              <a:rPr err="1"/>
              <a:t>Abstand</a:t>
            </a:r>
            <a:r>
              <a:t> des </a:t>
            </a:r>
            <a:r>
              <a:rPr err="1"/>
              <a:t>aktuellen</a:t>
            </a:r>
            <a:r>
              <a:t> </a:t>
            </a:r>
            <a:r>
              <a:rPr err="1"/>
              <a:t>Kurses</a:t>
            </a:r>
            <a:r>
              <a:t> </a:t>
            </a:r>
            <a:r>
              <a:rPr err="1"/>
              <a:t>zu</a:t>
            </a:r>
            <a:r>
              <a:t> </a:t>
            </a:r>
            <a:r>
              <a:rPr err="1"/>
              <a:t>seinem</a:t>
            </a:r>
            <a:r>
              <a:t> </a:t>
            </a:r>
            <a:r>
              <a:rPr err="1"/>
              <a:t>Allzeithoch</a:t>
            </a:r>
            <a:r>
              <a:t>? </a:t>
            </a:r>
            <a:r>
              <a:rPr err="1"/>
              <a:t>Geprüft</a:t>
            </a:r>
            <a:r>
              <a:t> </a:t>
            </a:r>
            <a:r>
              <a:rPr err="1"/>
              <a:t>wurde</a:t>
            </a:r>
            <a:r>
              <a:t> </a:t>
            </a:r>
            <a:r>
              <a:rPr err="1"/>
              <a:t>jeweils</a:t>
            </a:r>
            <a:r>
              <a:t> der </a:t>
            </a:r>
            <a:r>
              <a:rPr err="1"/>
              <a:t>Einfluss</a:t>
            </a:r>
            <a:r>
              <a:t> auf den Max-Drawdown der </a:t>
            </a:r>
            <a:r>
              <a:rPr err="1"/>
              <a:t>Folgeperiode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Alle </a:t>
            </a:r>
            <a:r>
              <a:rPr err="1"/>
              <a:t>drei</a:t>
            </a:r>
            <a:r>
              <a:t> </a:t>
            </a:r>
            <a:r>
              <a:rPr err="1"/>
              <a:t>hier</a:t>
            </a:r>
            <a:r>
              <a:t> </a:t>
            </a:r>
            <a:r>
              <a:rPr err="1"/>
              <a:t>gezeigten</a:t>
            </a:r>
            <a:r>
              <a:t> SMA-Hypothesen </a:t>
            </a:r>
            <a:r>
              <a:rPr err="1"/>
              <a:t>bestätigen</a:t>
            </a:r>
            <a:r>
              <a:t> </a:t>
            </a:r>
            <a:r>
              <a:rPr err="1"/>
              <a:t>sich</a:t>
            </a:r>
            <a:r>
              <a:t> </a:t>
            </a:r>
            <a:r>
              <a:rPr err="1"/>
              <a:t>statistisch</a:t>
            </a:r>
            <a:r>
              <a:t> </a:t>
            </a:r>
            <a:r>
              <a:rPr err="1"/>
              <a:t>signifikant</a:t>
            </a:r>
            <a:r>
              <a:t> </a:t>
            </a:r>
            <a:r>
              <a:rPr err="1"/>
              <a:t>über</a:t>
            </a:r>
            <a:r>
              <a:t> alle </a:t>
            </a:r>
            <a:r>
              <a:rPr err="1"/>
              <a:t>Zeithorizonte</a:t>
            </a:r>
            <a:r>
              <a:t>. </a:t>
            </a:r>
            <a:r>
              <a:rPr err="1"/>
              <a:t>Bezogen</a:t>
            </a:r>
            <a:r>
              <a:t> auf den S&amp;P 500: </a:t>
            </a:r>
            <a:r>
              <a:rPr err="1"/>
              <a:t>Notiert</a:t>
            </a:r>
            <a:r>
              <a:t> der Kurs </a:t>
            </a:r>
            <a:r>
              <a:rPr err="1"/>
              <a:t>unter</a:t>
            </a:r>
            <a:r>
              <a:t> </a:t>
            </a:r>
            <a:r>
              <a:rPr err="1"/>
              <a:t>statt</a:t>
            </a:r>
            <a:r>
              <a:t> </a:t>
            </a:r>
            <a:r>
              <a:rPr err="1"/>
              <a:t>über</a:t>
            </a:r>
            <a:r>
              <a:t> </a:t>
            </a:r>
            <a:r>
              <a:rPr err="1"/>
              <a:t>seinem</a:t>
            </a:r>
            <a:r>
              <a:t> SMA200, </a:t>
            </a:r>
            <a:r>
              <a:rPr err="1"/>
              <a:t>steigt</a:t>
            </a:r>
            <a:r>
              <a:t> der </a:t>
            </a:r>
            <a:r>
              <a:rPr err="1"/>
              <a:t>durchschnittliche</a:t>
            </a:r>
            <a:r>
              <a:t> 90-Tage-Drawdown von </a:t>
            </a:r>
            <a:r>
              <a:rPr err="1"/>
              <a:t>rund</a:t>
            </a:r>
            <a:r>
              <a:t> 8 auf </a:t>
            </a:r>
            <a:r>
              <a:rPr err="1"/>
              <a:t>rund</a:t>
            </a:r>
            <a:r>
              <a:t> 14 </a:t>
            </a:r>
            <a:r>
              <a:rPr err="1"/>
              <a:t>Prozent</a:t>
            </a:r>
            <a:r>
              <a:t>. </a:t>
            </a:r>
            <a:r>
              <a:rPr err="1"/>
              <a:t>Ähnlich</a:t>
            </a:r>
            <a:r>
              <a:t> </a:t>
            </a:r>
            <a:r>
              <a:rPr err="1"/>
              <a:t>bei</a:t>
            </a:r>
            <a:r>
              <a:t> der SMA-</a:t>
            </a:r>
            <a:r>
              <a:rPr err="1"/>
              <a:t>Richtung</a:t>
            </a:r>
            <a:r>
              <a:t>: </a:t>
            </a:r>
            <a:r>
              <a:rPr err="1"/>
              <a:t>fallend</a:t>
            </a:r>
            <a:r>
              <a:t> </a:t>
            </a:r>
            <a:r>
              <a:rPr err="1"/>
              <a:t>statt</a:t>
            </a:r>
            <a:r>
              <a:t> </a:t>
            </a:r>
            <a:r>
              <a:rPr err="1"/>
              <a:t>steigend</a:t>
            </a:r>
            <a:r>
              <a:t> </a:t>
            </a:r>
            <a:r>
              <a:rPr err="1"/>
              <a:t>erhöht</a:t>
            </a:r>
            <a:r>
              <a:t> den 90-Tage-Drawdown von </a:t>
            </a:r>
            <a:r>
              <a:rPr err="1"/>
              <a:t>etwa</a:t>
            </a:r>
            <a:r>
              <a:t> 8 auf 13 </a:t>
            </a:r>
            <a:r>
              <a:rPr err="1"/>
              <a:t>Prozent</a:t>
            </a:r>
            <a:r>
              <a:t>. Und </a:t>
            </a:r>
            <a:r>
              <a:rPr err="1"/>
              <a:t>befindet</a:t>
            </a:r>
            <a:r>
              <a:t> </a:t>
            </a:r>
            <a:r>
              <a:rPr err="1"/>
              <a:t>sich</a:t>
            </a:r>
            <a:r>
              <a:t> der Markt </a:t>
            </a:r>
            <a:r>
              <a:rPr err="1"/>
              <a:t>bereits</a:t>
            </a:r>
            <a:r>
              <a:t> in </a:t>
            </a:r>
            <a:r>
              <a:rPr err="1"/>
              <a:t>einer</a:t>
            </a:r>
            <a:r>
              <a:t> </a:t>
            </a:r>
            <a:r>
              <a:rPr err="1"/>
              <a:t>spürbaren</a:t>
            </a:r>
            <a:r>
              <a:t> </a:t>
            </a:r>
            <a:r>
              <a:rPr err="1"/>
              <a:t>Korrektur</a:t>
            </a:r>
            <a:r>
              <a:t> von </a:t>
            </a:r>
            <a:r>
              <a:rPr err="1"/>
              <a:t>mindestens</a:t>
            </a:r>
            <a:r>
              <a:t> 10 </a:t>
            </a:r>
            <a:r>
              <a:rPr err="1"/>
              <a:t>Prozent</a:t>
            </a:r>
            <a:r>
              <a:t> </a:t>
            </a:r>
            <a:r>
              <a:rPr err="1"/>
              <a:t>unter</a:t>
            </a:r>
            <a:r>
              <a:t> dem Hoch </a:t>
            </a:r>
            <a:r>
              <a:rPr err="1"/>
              <a:t>statt</a:t>
            </a:r>
            <a:r>
              <a:t> </a:t>
            </a:r>
            <a:r>
              <a:rPr err="1"/>
              <a:t>nahe</a:t>
            </a:r>
            <a:r>
              <a:t> am Hoch, </a:t>
            </a:r>
            <a:r>
              <a:rPr err="1"/>
              <a:t>steigt</a:t>
            </a:r>
            <a:r>
              <a:t> der 90-Tage-Drawdown von </a:t>
            </a:r>
            <a:r>
              <a:rPr err="1"/>
              <a:t>rund</a:t>
            </a:r>
            <a:r>
              <a:t> 8 auf </a:t>
            </a:r>
            <a:r>
              <a:rPr err="1"/>
              <a:t>knapp</a:t>
            </a:r>
            <a:r>
              <a:t> 12 </a:t>
            </a:r>
            <a:r>
              <a:rPr err="1"/>
              <a:t>Prozent</a:t>
            </a:r>
            <a:r>
              <a:t>. Die </a:t>
            </a:r>
            <a:r>
              <a:rPr err="1"/>
              <a:t>Ergebnisse</a:t>
            </a:r>
            <a:r>
              <a:t> der </a:t>
            </a:r>
            <a:r>
              <a:rPr err="1"/>
              <a:t>anderen</a:t>
            </a:r>
            <a:r>
              <a:t> </a:t>
            </a:r>
            <a:r>
              <a:rPr err="1"/>
              <a:t>drei</a:t>
            </a:r>
            <a:r>
              <a:t> </a:t>
            </a:r>
            <a:r>
              <a:rPr err="1"/>
              <a:t>Indizes</a:t>
            </a:r>
            <a:r>
              <a:t> fallen </a:t>
            </a:r>
            <a:r>
              <a:rPr err="1"/>
              <a:t>sehr</a:t>
            </a:r>
            <a:r>
              <a:t> </a:t>
            </a:r>
            <a:r>
              <a:rPr err="1"/>
              <a:t>ähnlich</a:t>
            </a:r>
            <a:r>
              <a:t> </a:t>
            </a:r>
            <a:r>
              <a:rPr err="1"/>
              <a:t>aus</a:t>
            </a:r>
            <a:r>
              <a:t> – der SMA200 hat </a:t>
            </a:r>
            <a:r>
              <a:rPr err="1"/>
              <a:t>sich</a:t>
            </a:r>
            <a:r>
              <a:t> </a:t>
            </a:r>
            <a:r>
              <a:rPr err="1"/>
              <a:t>als</a:t>
            </a:r>
            <a:r>
              <a:t> </a:t>
            </a:r>
            <a:r>
              <a:rPr err="1"/>
              <a:t>robustestes</a:t>
            </a:r>
            <a:r>
              <a:t> der </a:t>
            </a:r>
            <a:r>
              <a:rPr err="1"/>
              <a:t>drei</a:t>
            </a:r>
            <a:r>
              <a:t> </a:t>
            </a:r>
            <a:r>
              <a:rPr err="1"/>
              <a:t>geprüften</a:t>
            </a:r>
            <a:r>
              <a:t> Fenster </a:t>
            </a:r>
            <a:r>
              <a:rPr err="1"/>
              <a:t>erwiesen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Der VIX </a:t>
            </a:r>
            <a:r>
              <a:rPr err="1"/>
              <a:t>ist</a:t>
            </a:r>
            <a:r>
              <a:t> das </a:t>
            </a:r>
            <a:r>
              <a:rPr err="1"/>
              <a:t>bekannteste</a:t>
            </a:r>
            <a:r>
              <a:t> </a:t>
            </a:r>
            <a:r>
              <a:rPr err="1"/>
              <a:t>Angstbarometer</a:t>
            </a:r>
            <a:r>
              <a:t> der Börse und </a:t>
            </a:r>
            <a:r>
              <a:rPr err="1"/>
              <a:t>funktioniert</a:t>
            </a:r>
            <a:r>
              <a:t> </a:t>
            </a:r>
            <a:r>
              <a:rPr err="1"/>
              <a:t>strukturell</a:t>
            </a:r>
            <a:r>
              <a:t> </a:t>
            </a:r>
            <a:r>
              <a:rPr err="1"/>
              <a:t>anders</a:t>
            </a:r>
            <a:r>
              <a:t> </a:t>
            </a:r>
            <a:r>
              <a:rPr err="1"/>
              <a:t>als</a:t>
            </a:r>
            <a:r>
              <a:t> der </a:t>
            </a:r>
            <a:r>
              <a:rPr err="1"/>
              <a:t>Aktienmarkt</a:t>
            </a:r>
            <a:r>
              <a:t> </a:t>
            </a:r>
            <a:r>
              <a:rPr err="1"/>
              <a:t>selbst</a:t>
            </a:r>
            <a:r>
              <a:t>: Er hat </a:t>
            </a:r>
            <a:r>
              <a:rPr err="1"/>
              <a:t>keine</a:t>
            </a:r>
            <a:r>
              <a:t> </a:t>
            </a:r>
            <a:r>
              <a:rPr err="1"/>
              <a:t>langfristig</a:t>
            </a:r>
            <a:r>
              <a:t> </a:t>
            </a:r>
            <a:r>
              <a:rPr err="1"/>
              <a:t>steigende</a:t>
            </a:r>
            <a:r>
              <a:t> Tendenz, </a:t>
            </a:r>
            <a:r>
              <a:rPr err="1"/>
              <a:t>sondern</a:t>
            </a:r>
            <a:r>
              <a:t> </a:t>
            </a:r>
            <a:r>
              <a:rPr err="1"/>
              <a:t>bewegt</a:t>
            </a:r>
            <a:r>
              <a:t> </a:t>
            </a:r>
            <a:r>
              <a:rPr err="1"/>
              <a:t>sich</a:t>
            </a:r>
            <a:r>
              <a:t> </a:t>
            </a:r>
            <a:r>
              <a:rPr err="1"/>
              <a:t>meist</a:t>
            </a:r>
            <a:r>
              <a:t> in </a:t>
            </a:r>
            <a:r>
              <a:rPr err="1"/>
              <a:t>einem</a:t>
            </a:r>
            <a:r>
              <a:t> </a:t>
            </a:r>
            <a:r>
              <a:rPr err="1"/>
              <a:t>ruhigen</a:t>
            </a:r>
            <a:r>
              <a:t> Band und </a:t>
            </a:r>
            <a:r>
              <a:rPr err="1"/>
              <a:t>schießt</a:t>
            </a:r>
            <a:r>
              <a:t> </a:t>
            </a:r>
            <a:r>
              <a:rPr err="1"/>
              <a:t>nur</a:t>
            </a:r>
            <a:r>
              <a:t> in </a:t>
            </a:r>
            <a:r>
              <a:rPr err="1"/>
              <a:t>echten</a:t>
            </a:r>
            <a:r>
              <a:t> </a:t>
            </a:r>
            <a:r>
              <a:rPr err="1"/>
              <a:t>Stressphasen</a:t>
            </a:r>
            <a:r>
              <a:t> </a:t>
            </a:r>
            <a:r>
              <a:rPr err="1"/>
              <a:t>nach</a:t>
            </a:r>
            <a:r>
              <a:t> </a:t>
            </a:r>
            <a:r>
              <a:rPr err="1"/>
              <a:t>oben</a:t>
            </a:r>
            <a:r>
              <a:t> – </a:t>
            </a:r>
            <a:r>
              <a:rPr err="1"/>
              <a:t>wie</a:t>
            </a:r>
            <a:r>
              <a:t> </a:t>
            </a:r>
            <a:r>
              <a:rPr err="1"/>
              <a:t>hier</a:t>
            </a:r>
            <a:r>
              <a:t> </a:t>
            </a:r>
            <a:r>
              <a:rPr err="1"/>
              <a:t>im</a:t>
            </a:r>
            <a:r>
              <a:t> Chart </a:t>
            </a:r>
            <a:r>
              <a:rPr err="1"/>
              <a:t>bei</a:t>
            </a:r>
            <a:r>
              <a:t> der </a:t>
            </a:r>
            <a:r>
              <a:rPr err="1"/>
              <a:t>Finanzkrise</a:t>
            </a:r>
            <a:r>
              <a:t> 2008, dem Corona-Crash 2020</a:t>
            </a:r>
            <a:r>
              <a:rPr lang="de-DE"/>
              <a:t>,</a:t>
            </a:r>
            <a:r>
              <a:t> der Inflations-</a:t>
            </a:r>
            <a:r>
              <a:rPr err="1"/>
              <a:t>Baisse</a:t>
            </a:r>
            <a:r>
              <a:t> 2022 </a:t>
            </a:r>
            <a:r>
              <a:rPr err="1"/>
              <a:t>sichtbar</a:t>
            </a:r>
            <a:r>
              <a:rPr lang="de-DE"/>
              <a:t> oder wie in der Grafik dargestellt August 2024 der Japan Carry-Trade April 2025 Trump Zölle.</a:t>
            </a:r>
            <a:r>
              <a:t> Er </a:t>
            </a:r>
            <a:r>
              <a:rPr err="1"/>
              <a:t>misst</a:t>
            </a:r>
            <a:r>
              <a:t> die für die </a:t>
            </a:r>
            <a:r>
              <a:rPr err="1"/>
              <a:t>nächsten</a:t>
            </a:r>
            <a:r>
              <a:t> 30 Tage </a:t>
            </a:r>
            <a:r>
              <a:rPr err="1"/>
              <a:t>erwartete</a:t>
            </a:r>
            <a:r>
              <a:t> </a:t>
            </a:r>
            <a:r>
              <a:rPr err="1"/>
              <a:t>Schwankungsbreite</a:t>
            </a:r>
            <a:r>
              <a:t> des </a:t>
            </a:r>
            <a:r>
              <a:rPr err="1"/>
              <a:t>Marktes</a:t>
            </a:r>
            <a:r>
              <a:t> und </a:t>
            </a:r>
            <a:r>
              <a:rPr err="1"/>
              <a:t>ist</a:t>
            </a:r>
            <a:r>
              <a:t> </a:t>
            </a:r>
            <a:r>
              <a:rPr err="1"/>
              <a:t>damit</a:t>
            </a:r>
            <a:r>
              <a:t> </a:t>
            </a:r>
            <a:r>
              <a:rPr err="1"/>
              <a:t>vorwärtsgerichtet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Für den VIX haben wir unter anderem geprüft: Liefern indexspezifische Schwellenwerte verlässliche Signale? Kündigen neue Drei-Monats-Hochs des VIX erhöhtes Risiko an? Und liefert eine Divergenz zwischen VIX und Index – beide steigen gleichzeitig, obwohl sie normalerweise invers korreliert sind – einen Frühwarnhinweis?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Auch </a:t>
            </a:r>
            <a:r>
              <a:rPr err="1"/>
              <a:t>hier</a:t>
            </a:r>
            <a:r>
              <a:t> </a:t>
            </a:r>
            <a:r>
              <a:rPr err="1"/>
              <a:t>bestätigt</a:t>
            </a:r>
            <a:r>
              <a:t> </a:t>
            </a:r>
            <a:r>
              <a:rPr err="1"/>
              <a:t>sich</a:t>
            </a:r>
            <a:r>
              <a:t>: Ein </a:t>
            </a:r>
            <a:r>
              <a:rPr err="1"/>
              <a:t>erhöhter</a:t>
            </a:r>
            <a:r>
              <a:t> VIX </a:t>
            </a:r>
            <a:r>
              <a:rPr err="1"/>
              <a:t>ist</a:t>
            </a:r>
            <a:r>
              <a:t> </a:t>
            </a:r>
            <a:r>
              <a:rPr err="1"/>
              <a:t>historisch</a:t>
            </a:r>
            <a:r>
              <a:t> </a:t>
            </a:r>
            <a:r>
              <a:rPr err="1"/>
              <a:t>kein</a:t>
            </a:r>
            <a:r>
              <a:t> </a:t>
            </a:r>
            <a:r>
              <a:rPr err="1"/>
              <a:t>Verkaufssignal</a:t>
            </a:r>
            <a:r>
              <a:t>, </a:t>
            </a:r>
            <a:r>
              <a:rPr err="1"/>
              <a:t>aber</a:t>
            </a:r>
            <a:r>
              <a:t> </a:t>
            </a:r>
            <a:r>
              <a:rPr err="1"/>
              <a:t>ein</a:t>
            </a:r>
            <a:r>
              <a:t> </a:t>
            </a:r>
            <a:r>
              <a:rPr err="1"/>
              <a:t>verlässliches</a:t>
            </a:r>
            <a:r>
              <a:t> </a:t>
            </a:r>
            <a:r>
              <a:rPr err="1"/>
              <a:t>Risikosignal</a:t>
            </a:r>
            <a:r>
              <a:t>. Bei VIX </a:t>
            </a:r>
            <a:r>
              <a:rPr err="1"/>
              <a:t>über</a:t>
            </a:r>
            <a:r>
              <a:t> 30 </a:t>
            </a:r>
            <a:r>
              <a:rPr err="1"/>
              <a:t>liegt</a:t>
            </a:r>
            <a:r>
              <a:t> der </a:t>
            </a:r>
            <a:r>
              <a:rPr err="1"/>
              <a:t>durchschnittliche</a:t>
            </a:r>
            <a:r>
              <a:t> 30-Tage-Drawdown des S&amp;P 500 </a:t>
            </a:r>
            <a:r>
              <a:rPr err="1"/>
              <a:t>bei</a:t>
            </a:r>
            <a:r>
              <a:t> </a:t>
            </a:r>
            <a:r>
              <a:rPr err="1"/>
              <a:t>knapp</a:t>
            </a:r>
            <a:r>
              <a:t> 10 </a:t>
            </a:r>
            <a:r>
              <a:rPr err="1"/>
              <a:t>Prozent</a:t>
            </a:r>
            <a:r>
              <a:t> </a:t>
            </a:r>
            <a:r>
              <a:rPr err="1"/>
              <a:t>gegenüber</a:t>
            </a:r>
            <a:r>
              <a:t> gut 5 </a:t>
            </a:r>
            <a:r>
              <a:rPr err="1"/>
              <a:t>Prozent</a:t>
            </a:r>
            <a:r>
              <a:t> </a:t>
            </a:r>
            <a:r>
              <a:rPr err="1"/>
              <a:t>im</a:t>
            </a:r>
            <a:r>
              <a:t> Baseline-Fall. Ein </a:t>
            </a:r>
            <a:r>
              <a:rPr err="1"/>
              <a:t>neues</a:t>
            </a:r>
            <a:r>
              <a:t> Drei-</a:t>
            </a:r>
            <a:r>
              <a:rPr err="1"/>
              <a:t>Monats</a:t>
            </a:r>
            <a:r>
              <a:t>-Hoch des VIX </a:t>
            </a:r>
            <a:r>
              <a:rPr err="1"/>
              <a:t>erhöht</a:t>
            </a:r>
            <a:r>
              <a:t> den 30-Tage-Drawdown von </a:t>
            </a:r>
            <a:r>
              <a:rPr err="1"/>
              <a:t>rund</a:t>
            </a:r>
            <a:r>
              <a:t> 5 auf </a:t>
            </a:r>
            <a:r>
              <a:rPr err="1"/>
              <a:t>über</a:t>
            </a:r>
            <a:r>
              <a:t> 7 </a:t>
            </a:r>
            <a:r>
              <a:rPr err="1"/>
              <a:t>Prozent</a:t>
            </a:r>
            <a:r>
              <a:t>. </a:t>
            </a:r>
            <a:r>
              <a:rPr err="1"/>
              <a:t>Besonders</a:t>
            </a:r>
            <a:r>
              <a:t> </a:t>
            </a:r>
            <a:r>
              <a:rPr err="1"/>
              <a:t>spannend</a:t>
            </a:r>
            <a:r>
              <a:t> </a:t>
            </a:r>
            <a:r>
              <a:rPr err="1"/>
              <a:t>ist</a:t>
            </a:r>
            <a:r>
              <a:t> die </a:t>
            </a:r>
            <a:r>
              <a:rPr err="1"/>
              <a:t>Divergenz</a:t>
            </a:r>
            <a:r>
              <a:t>: Sie </a:t>
            </a:r>
            <a:r>
              <a:rPr err="1"/>
              <a:t>ist</a:t>
            </a:r>
            <a:r>
              <a:t> </a:t>
            </a:r>
            <a:r>
              <a:rPr err="1"/>
              <a:t>als</a:t>
            </a:r>
            <a:r>
              <a:t> </a:t>
            </a:r>
            <a:r>
              <a:rPr err="1"/>
              <a:t>einziges</a:t>
            </a:r>
            <a:r>
              <a:t> der </a:t>
            </a:r>
            <a:r>
              <a:rPr err="1"/>
              <a:t>geprüften</a:t>
            </a:r>
            <a:r>
              <a:t> VIX-</a:t>
            </a:r>
            <a:r>
              <a:rPr err="1"/>
              <a:t>Signale</a:t>
            </a:r>
            <a:r>
              <a:t> </a:t>
            </a:r>
            <a:r>
              <a:rPr err="1"/>
              <a:t>ein</a:t>
            </a:r>
            <a:r>
              <a:t> </a:t>
            </a:r>
            <a:r>
              <a:rPr err="1"/>
              <a:t>echter</a:t>
            </a:r>
            <a:r>
              <a:t> </a:t>
            </a:r>
            <a:r>
              <a:rPr err="1"/>
              <a:t>vorlaufender</a:t>
            </a:r>
            <a:r>
              <a:t> </a:t>
            </a:r>
            <a:r>
              <a:rPr err="1"/>
              <a:t>Frühindikator</a:t>
            </a:r>
            <a:r>
              <a:t> – </a:t>
            </a:r>
            <a:r>
              <a:rPr err="1"/>
              <a:t>wir</a:t>
            </a:r>
            <a:r>
              <a:t> </a:t>
            </a:r>
            <a:r>
              <a:rPr err="1"/>
              <a:t>zeigen</a:t>
            </a:r>
            <a:r>
              <a:t> </a:t>
            </a:r>
            <a:r>
              <a:rPr err="1"/>
              <a:t>hier</a:t>
            </a:r>
            <a:r>
              <a:t> die </a:t>
            </a:r>
            <a:r>
              <a:rPr err="1"/>
              <a:t>vom</a:t>
            </a:r>
            <a:r>
              <a:t> Notebook </a:t>
            </a:r>
            <a:r>
              <a:rPr err="1"/>
              <a:t>als</a:t>
            </a:r>
            <a:r>
              <a:t> </a:t>
            </a:r>
            <a:r>
              <a:rPr err="1"/>
              <a:t>robusteste</a:t>
            </a:r>
            <a:r>
              <a:t> </a:t>
            </a:r>
            <a:r>
              <a:rPr err="1"/>
              <a:t>identifizierte</a:t>
            </a:r>
            <a:r>
              <a:t> </a:t>
            </a:r>
            <a:r>
              <a:rPr err="1"/>
              <a:t>Parametrisierung</a:t>
            </a:r>
            <a:r>
              <a:t>, </a:t>
            </a:r>
            <a:r>
              <a:rPr err="1"/>
              <a:t>bei</a:t>
            </a:r>
            <a:r>
              <a:t> der </a:t>
            </a:r>
            <a:r>
              <a:rPr err="1"/>
              <a:t>sich</a:t>
            </a:r>
            <a:r>
              <a:t> der 15-Tage-Drawdown von </a:t>
            </a:r>
            <a:r>
              <a:rPr err="1"/>
              <a:t>rund</a:t>
            </a:r>
            <a:r>
              <a:t> 3,4 auf 4,6 </a:t>
            </a:r>
            <a:r>
              <a:rPr err="1"/>
              <a:t>Prozent</a:t>
            </a:r>
            <a:r>
              <a:t> </a:t>
            </a:r>
            <a:r>
              <a:rPr err="1"/>
              <a:t>erhöht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Marktbreite misst, wie viele Einzelaktien eines Index über ihrem eigenen gleitenden Durchschnitt notieren – hier für den S&amp;P 500 auf Basis des 20-Tage-Fensters. Sie zeigt, ob eine Kursbewegung des Gesamtindex in der Breite von vielen Aktien getragen wird oder nur von wenigen Schwergewichten – und damit auf fragilem Fundament steht.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Bei der Marktbreite haben wir unter anderem geprüft: Unterscheidet sich die Folgeperiode, wenn die Mehrheit oder nur eine Minderheit der Indexmitglieder über ihrem SMA notiert? Und wirkt die Marktbreite eher binär oder graduell abgestuft in Quartilen?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Das </a:t>
            </a:r>
            <a:r>
              <a:rPr err="1"/>
              <a:t>Marktbreite</a:t>
            </a:r>
            <a:r>
              <a:t>-Regime </a:t>
            </a:r>
            <a:r>
              <a:rPr err="1"/>
              <a:t>ist</a:t>
            </a:r>
            <a:r>
              <a:t> </a:t>
            </a:r>
            <a:r>
              <a:rPr err="1"/>
              <a:t>über</a:t>
            </a:r>
            <a:r>
              <a:t> alle </a:t>
            </a:r>
            <a:r>
              <a:rPr err="1"/>
              <a:t>drei</a:t>
            </a:r>
            <a:r>
              <a:t> </a:t>
            </a:r>
            <a:r>
              <a:rPr err="1"/>
              <a:t>geprüften</a:t>
            </a:r>
            <a:r>
              <a:t> </a:t>
            </a:r>
            <a:r>
              <a:rPr err="1"/>
              <a:t>Zeitfenster</a:t>
            </a:r>
            <a:r>
              <a:t> </a:t>
            </a:r>
            <a:r>
              <a:rPr err="1"/>
              <a:t>durchgehend</a:t>
            </a:r>
            <a:r>
              <a:t> </a:t>
            </a:r>
            <a:r>
              <a:rPr err="1"/>
              <a:t>signifikant</a:t>
            </a:r>
            <a:r>
              <a:t>: </a:t>
            </a:r>
            <a:r>
              <a:rPr err="1"/>
              <a:t>Notiert</a:t>
            </a:r>
            <a:r>
              <a:t> die </a:t>
            </a:r>
            <a:r>
              <a:rPr err="1"/>
              <a:t>Mehrheit</a:t>
            </a:r>
            <a:r>
              <a:t> der S&amp;P-500-Mitglieder </a:t>
            </a:r>
            <a:r>
              <a:rPr err="1"/>
              <a:t>unter</a:t>
            </a:r>
            <a:r>
              <a:t> </a:t>
            </a:r>
            <a:r>
              <a:rPr err="1"/>
              <a:t>statt</a:t>
            </a:r>
            <a:r>
              <a:t> </a:t>
            </a:r>
            <a:r>
              <a:rPr err="1"/>
              <a:t>über</a:t>
            </a:r>
            <a:r>
              <a:t> </a:t>
            </a:r>
            <a:r>
              <a:rPr err="1"/>
              <a:t>ihrem</a:t>
            </a:r>
            <a:r>
              <a:t> SMA200, </a:t>
            </a:r>
            <a:r>
              <a:rPr err="1"/>
              <a:t>steigt</a:t>
            </a:r>
            <a:r>
              <a:t> der 90-Tage-Drawdown von </a:t>
            </a:r>
            <a:r>
              <a:rPr err="1"/>
              <a:t>rund</a:t>
            </a:r>
            <a:r>
              <a:t> 8 auf gut 13 </a:t>
            </a:r>
            <a:r>
              <a:rPr err="1"/>
              <a:t>Prozent</a:t>
            </a:r>
            <a:r>
              <a:t>. Noch </a:t>
            </a:r>
            <a:r>
              <a:rPr err="1"/>
              <a:t>deutlicher</a:t>
            </a:r>
            <a:r>
              <a:t> </a:t>
            </a:r>
            <a:r>
              <a:rPr err="1"/>
              <a:t>zeigt</a:t>
            </a:r>
            <a:r>
              <a:t> </a:t>
            </a:r>
            <a:r>
              <a:rPr err="1"/>
              <a:t>sich</a:t>
            </a:r>
            <a:r>
              <a:t> das in den </a:t>
            </a:r>
            <a:r>
              <a:rPr err="1"/>
              <a:t>Quartilen</a:t>
            </a:r>
            <a:r>
              <a:t>: </a:t>
            </a:r>
            <a:r>
              <a:rPr err="1"/>
              <a:t>Im</a:t>
            </a:r>
            <a:r>
              <a:t> </a:t>
            </a:r>
            <a:r>
              <a:rPr err="1"/>
              <a:t>schwächsten</a:t>
            </a:r>
            <a:r>
              <a:t> </a:t>
            </a:r>
            <a:r>
              <a:rPr err="1"/>
              <a:t>Marktbreite-Quartil</a:t>
            </a:r>
            <a:r>
              <a:t> </a:t>
            </a:r>
            <a:r>
              <a:rPr err="1"/>
              <a:t>liegt</a:t>
            </a:r>
            <a:r>
              <a:t> der 90-Tage-Drawdown </a:t>
            </a:r>
            <a:r>
              <a:rPr err="1"/>
              <a:t>im</a:t>
            </a:r>
            <a:r>
              <a:t> Mittel </a:t>
            </a:r>
            <a:r>
              <a:rPr err="1"/>
              <a:t>bei</a:t>
            </a:r>
            <a:r>
              <a:t> </a:t>
            </a:r>
            <a:r>
              <a:rPr err="1"/>
              <a:t>rund</a:t>
            </a:r>
            <a:r>
              <a:t> 14,5 </a:t>
            </a:r>
            <a:r>
              <a:rPr err="1"/>
              <a:t>Prozent</a:t>
            </a:r>
            <a:r>
              <a:t>, </a:t>
            </a:r>
            <a:r>
              <a:rPr err="1"/>
              <a:t>im</a:t>
            </a:r>
            <a:r>
              <a:t> </a:t>
            </a:r>
            <a:r>
              <a:rPr err="1"/>
              <a:t>stärksten</a:t>
            </a:r>
            <a:r>
              <a:t> </a:t>
            </a:r>
            <a:r>
              <a:rPr err="1"/>
              <a:t>Quartil</a:t>
            </a:r>
            <a:r>
              <a:t> </a:t>
            </a:r>
            <a:r>
              <a:rPr err="1"/>
              <a:t>nur</a:t>
            </a:r>
            <a:r>
              <a:t> </a:t>
            </a:r>
            <a:r>
              <a:rPr err="1"/>
              <a:t>bei</a:t>
            </a:r>
            <a:r>
              <a:t> 7,8 </a:t>
            </a:r>
            <a:r>
              <a:rPr err="1"/>
              <a:t>Prozent</a:t>
            </a:r>
            <a:r>
              <a:t> – </a:t>
            </a:r>
            <a:r>
              <a:rPr err="1"/>
              <a:t>ein</a:t>
            </a:r>
            <a:r>
              <a:t> </a:t>
            </a:r>
            <a:r>
              <a:rPr err="1"/>
              <a:t>sauberer</a:t>
            </a:r>
            <a:r>
              <a:t>, </a:t>
            </a:r>
            <a:r>
              <a:rPr err="1"/>
              <a:t>monotoner</a:t>
            </a:r>
            <a:r>
              <a:t> Risiko-Gradient. Alle 18 </a:t>
            </a:r>
            <a:r>
              <a:rPr err="1"/>
              <a:t>geprüften</a:t>
            </a:r>
            <a:r>
              <a:t> </a:t>
            </a:r>
            <a:r>
              <a:rPr err="1"/>
              <a:t>Kombinationen</a:t>
            </a:r>
            <a:r>
              <a:t> </a:t>
            </a:r>
            <a:r>
              <a:rPr err="1"/>
              <a:t>sind</a:t>
            </a:r>
            <a:r>
              <a:t> </a:t>
            </a:r>
            <a:r>
              <a:rPr err="1"/>
              <a:t>statistisch</a:t>
            </a:r>
            <a:r>
              <a:t> </a:t>
            </a:r>
            <a:r>
              <a:rPr err="1"/>
              <a:t>hochsignifikant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Put-/Call-Ratio stellt Absicherungsbedürfnis und Spekulationsbedürfnis gegenüber: das Verhältnis zwischen gehandelten Put- und Call-Kontrakten. Hohe Werte deuten auf ein hohes Absicherungsbedürfnis hin – also Unsicherheit oder Panik am Markt.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Für die Put-/Call-Ratio haben wir geprüft: Liefert eine Ratio innerhalb ihres eigenen obersten Zehntels der historischen Verteilung ein Signal? Und bestätigen Schlusskurse in der Nähe von Tages-Hochs ein solches Extremsignal zusätzlich?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Eine </a:t>
            </a:r>
            <a:r>
              <a:rPr err="1"/>
              <a:t>besonders</a:t>
            </a:r>
            <a:r>
              <a:t> </a:t>
            </a:r>
            <a:r>
              <a:rPr err="1"/>
              <a:t>hohe</a:t>
            </a:r>
            <a:r>
              <a:t> Put-/Call-Ratio gilt </a:t>
            </a:r>
            <a:r>
              <a:rPr err="1"/>
              <a:t>historisch</a:t>
            </a:r>
            <a:r>
              <a:t> </a:t>
            </a:r>
            <a:r>
              <a:rPr err="1"/>
              <a:t>als</a:t>
            </a:r>
            <a:r>
              <a:t> </a:t>
            </a:r>
            <a:r>
              <a:rPr err="1"/>
              <a:t>Kontraindikator</a:t>
            </a:r>
            <a:r>
              <a:t>: Viel Angst am Markt </a:t>
            </a:r>
            <a:r>
              <a:rPr err="1"/>
              <a:t>fällt</a:t>
            </a:r>
            <a:r>
              <a:t> </a:t>
            </a:r>
            <a:r>
              <a:rPr err="1"/>
              <a:t>häufig</a:t>
            </a:r>
            <a:r>
              <a:t> </a:t>
            </a:r>
            <a:r>
              <a:rPr err="1"/>
              <a:t>mit</a:t>
            </a:r>
            <a:r>
              <a:t> </a:t>
            </a:r>
            <a:r>
              <a:rPr err="1"/>
              <a:t>Tiefpunkten</a:t>
            </a:r>
            <a:r>
              <a:t> </a:t>
            </a:r>
            <a:r>
              <a:rPr err="1"/>
              <a:t>zusammen</a:t>
            </a:r>
            <a:r>
              <a:t>. Für den S&amp;P 500 </a:t>
            </a:r>
            <a:r>
              <a:rPr err="1"/>
              <a:t>zeigt</a:t>
            </a:r>
            <a:r>
              <a:t> </a:t>
            </a:r>
            <a:r>
              <a:rPr err="1"/>
              <a:t>sich</a:t>
            </a:r>
            <a:r>
              <a:t> das </a:t>
            </a:r>
            <a:r>
              <a:rPr err="1"/>
              <a:t>auch</a:t>
            </a:r>
            <a:r>
              <a:t> in </a:t>
            </a:r>
            <a:r>
              <a:rPr err="1"/>
              <a:t>unseren</a:t>
            </a:r>
            <a:r>
              <a:t> Zahlen: Nach </a:t>
            </a:r>
            <a:r>
              <a:rPr err="1"/>
              <a:t>einem</a:t>
            </a:r>
            <a:r>
              <a:t> Tag </a:t>
            </a:r>
            <a:r>
              <a:rPr err="1"/>
              <a:t>im</a:t>
            </a:r>
            <a:r>
              <a:t> </a:t>
            </a:r>
            <a:r>
              <a:rPr err="1"/>
              <a:t>obersten</a:t>
            </a:r>
            <a:r>
              <a:t> </a:t>
            </a:r>
            <a:r>
              <a:rPr err="1"/>
              <a:t>Dezil</a:t>
            </a:r>
            <a:r>
              <a:t> der Ratio </a:t>
            </a:r>
            <a:r>
              <a:rPr err="1"/>
              <a:t>liegt</a:t>
            </a:r>
            <a:r>
              <a:t> der </a:t>
            </a:r>
            <a:r>
              <a:rPr err="1"/>
              <a:t>durchschnittliche</a:t>
            </a:r>
            <a:r>
              <a:t> 90-Tage-Drawdown </a:t>
            </a:r>
            <a:r>
              <a:rPr err="1"/>
              <a:t>bei</a:t>
            </a:r>
            <a:r>
              <a:t> </a:t>
            </a:r>
            <a:r>
              <a:rPr err="1"/>
              <a:t>rund</a:t>
            </a:r>
            <a:r>
              <a:t> 7,8 </a:t>
            </a:r>
            <a:r>
              <a:rPr err="1"/>
              <a:t>Prozent</a:t>
            </a:r>
            <a:r>
              <a:t> – </a:t>
            </a:r>
            <a:r>
              <a:rPr err="1"/>
              <a:t>niedriger</a:t>
            </a:r>
            <a:r>
              <a:t> </a:t>
            </a:r>
            <a:r>
              <a:rPr err="1"/>
              <a:t>als</a:t>
            </a:r>
            <a:r>
              <a:t> die </a:t>
            </a:r>
            <a:r>
              <a:rPr err="1"/>
              <a:t>allgemeine</a:t>
            </a:r>
            <a:r>
              <a:t> </a:t>
            </a:r>
            <a:r>
              <a:rPr err="1"/>
              <a:t>Basisrate</a:t>
            </a:r>
            <a:r>
              <a:t> von 9,4 </a:t>
            </a:r>
            <a:r>
              <a:rPr err="1"/>
              <a:t>Prozent</a:t>
            </a:r>
            <a:r>
              <a:t>. </a:t>
            </a:r>
            <a:r>
              <a:rPr err="1"/>
              <a:t>Ähnlich</a:t>
            </a:r>
            <a:r>
              <a:t> </a:t>
            </a:r>
            <a:r>
              <a:rPr err="1"/>
              <a:t>beim</a:t>
            </a:r>
            <a:r>
              <a:t> </a:t>
            </a:r>
            <a:r>
              <a:rPr err="1"/>
              <a:t>zweiten</a:t>
            </a:r>
            <a:r>
              <a:t> Signal, </a:t>
            </a:r>
            <a:r>
              <a:rPr err="1"/>
              <a:t>einem</a:t>
            </a:r>
            <a:r>
              <a:t> </a:t>
            </a:r>
            <a:r>
              <a:rPr err="1"/>
              <a:t>durch</a:t>
            </a:r>
            <a:r>
              <a:t> den </a:t>
            </a:r>
            <a:r>
              <a:rPr err="1"/>
              <a:t>Schlusskurs</a:t>
            </a:r>
            <a:r>
              <a:t> </a:t>
            </a:r>
            <a:r>
              <a:rPr err="1"/>
              <a:t>bestätigten</a:t>
            </a:r>
            <a:r>
              <a:t> Tages-Hoch: </a:t>
            </a:r>
            <a:r>
              <a:rPr err="1"/>
              <a:t>rund</a:t>
            </a:r>
            <a:r>
              <a:t> 8,4 </a:t>
            </a:r>
            <a:r>
              <a:rPr err="1"/>
              <a:t>Prozent</a:t>
            </a:r>
            <a:r>
              <a:t> </a:t>
            </a:r>
            <a:r>
              <a:rPr err="1"/>
              <a:t>gegenüber</a:t>
            </a:r>
            <a:r>
              <a:t> 9,4 </a:t>
            </a:r>
            <a:r>
              <a:rPr err="1"/>
              <a:t>Prozent</a:t>
            </a:r>
            <a:r>
              <a:t> </a:t>
            </a:r>
            <a:r>
              <a:rPr err="1"/>
              <a:t>Basisrate</a:t>
            </a:r>
            <a: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err="1"/>
              <a:t>Jetzt</a:t>
            </a:r>
            <a:r>
              <a:t> </a:t>
            </a:r>
            <a:r>
              <a:rPr err="1"/>
              <a:t>kommen</a:t>
            </a:r>
            <a:r>
              <a:t> </a:t>
            </a:r>
            <a:r>
              <a:rPr err="1"/>
              <a:t>wir</a:t>
            </a:r>
            <a:r>
              <a:t> </a:t>
            </a:r>
            <a:r>
              <a:rPr err="1"/>
              <a:t>zur</a:t>
            </a:r>
            <a:r>
              <a:t> </a:t>
            </a:r>
            <a:r>
              <a:rPr err="1"/>
              <a:t>Kombination</a:t>
            </a:r>
            <a:r>
              <a:t>: Aus elf </a:t>
            </a:r>
            <a:r>
              <a:rPr err="1"/>
              <a:t>Einzelsignalen</a:t>
            </a:r>
            <a:r>
              <a:t> der vier </a:t>
            </a:r>
            <a:r>
              <a:rPr err="1"/>
              <a:t>Indikatorgruppen</a:t>
            </a:r>
            <a:r>
              <a:t> </a:t>
            </a:r>
            <a:r>
              <a:rPr err="1"/>
              <a:t>berechnen</a:t>
            </a:r>
            <a:r>
              <a:t> </a:t>
            </a:r>
            <a:r>
              <a:rPr err="1"/>
              <a:t>wir</a:t>
            </a:r>
            <a:r>
              <a:t> für </a:t>
            </a:r>
            <a:r>
              <a:rPr err="1"/>
              <a:t>jeden</a:t>
            </a:r>
            <a:r>
              <a:t> </a:t>
            </a:r>
            <a:r>
              <a:rPr err="1"/>
              <a:t>Handelstag</a:t>
            </a:r>
            <a:r>
              <a:t> </a:t>
            </a:r>
            <a:r>
              <a:rPr err="1"/>
              <a:t>einen</a:t>
            </a:r>
            <a:r>
              <a:t> </a:t>
            </a:r>
            <a:r>
              <a:rPr err="1"/>
              <a:t>Belastungsgrad</a:t>
            </a:r>
            <a:r>
              <a:t> – den </a:t>
            </a:r>
            <a:r>
              <a:rPr err="1"/>
              <a:t>Anteil</a:t>
            </a:r>
            <a:r>
              <a:t> </a:t>
            </a:r>
            <a:r>
              <a:rPr err="1"/>
              <a:t>gerade</a:t>
            </a:r>
            <a:r>
              <a:t> </a:t>
            </a:r>
            <a:r>
              <a:rPr err="1"/>
              <a:t>zutreffender</a:t>
            </a:r>
            <a:r>
              <a:t>, '</a:t>
            </a:r>
            <a:r>
              <a:rPr err="1"/>
              <a:t>schlechter</a:t>
            </a:r>
            <a:r>
              <a:t>' </a:t>
            </a:r>
            <a:r>
              <a:rPr err="1"/>
              <a:t>Signale</a:t>
            </a:r>
            <a:r>
              <a:t> </a:t>
            </a:r>
            <a:r>
              <a:rPr err="1"/>
              <a:t>einer</a:t>
            </a:r>
            <a:r>
              <a:t> </a:t>
            </a:r>
            <a:r>
              <a:rPr err="1"/>
              <a:t>gewählten</a:t>
            </a:r>
            <a:r>
              <a:t> Signal-</a:t>
            </a:r>
            <a:r>
              <a:rPr err="1"/>
              <a:t>Auswahl</a:t>
            </a:r>
            <a:r>
              <a:t>, </a:t>
            </a:r>
            <a:r>
              <a:rPr err="1"/>
              <a:t>zwischen</a:t>
            </a:r>
            <a:r>
              <a:t> 0 und 1. Zwei </a:t>
            </a:r>
            <a:r>
              <a:rPr err="1"/>
              <a:t>Schwellenwerte</a:t>
            </a:r>
            <a:r>
              <a:t> </a:t>
            </a:r>
            <a:r>
              <a:rPr err="1"/>
              <a:t>trennen</a:t>
            </a:r>
            <a:r>
              <a:t> </a:t>
            </a:r>
            <a:r>
              <a:rPr err="1"/>
              <a:t>daraus</a:t>
            </a:r>
            <a:r>
              <a:t> Grün, Gelb und Rot. Ziel war </a:t>
            </a:r>
            <a:r>
              <a:rPr err="1"/>
              <a:t>eine</a:t>
            </a:r>
            <a:r>
              <a:t> </a:t>
            </a:r>
            <a:r>
              <a:rPr err="1"/>
              <a:t>universelle</a:t>
            </a:r>
            <a:r>
              <a:t> </a:t>
            </a:r>
            <a:r>
              <a:rPr err="1"/>
              <a:t>Logik</a:t>
            </a:r>
            <a:r>
              <a:t> </a:t>
            </a:r>
            <a:r>
              <a:rPr err="1"/>
              <a:t>nach</a:t>
            </a:r>
            <a:r>
              <a:t> dem Minimum-</a:t>
            </a:r>
            <a:r>
              <a:rPr err="1"/>
              <a:t>Prinzip</a:t>
            </a:r>
            <a:r>
              <a:t>: </a:t>
            </a:r>
            <a:r>
              <a:rPr err="1"/>
              <a:t>eine</a:t>
            </a:r>
            <a:r>
              <a:t> </a:t>
            </a:r>
            <a:r>
              <a:rPr err="1"/>
              <a:t>einzige</a:t>
            </a:r>
            <a:r>
              <a:t> </a:t>
            </a:r>
            <a:r>
              <a:rPr err="1"/>
              <a:t>Kombination</a:t>
            </a:r>
            <a:r>
              <a:t>, die </a:t>
            </a:r>
            <a:r>
              <a:rPr err="1"/>
              <a:t>gleichzeitig</a:t>
            </a:r>
            <a:r>
              <a:t> für alle vier </a:t>
            </a:r>
            <a:r>
              <a:rPr err="1"/>
              <a:t>Indizes</a:t>
            </a:r>
            <a:r>
              <a:t> </a:t>
            </a:r>
            <a:r>
              <a:rPr err="1"/>
              <a:t>funktioniert</a:t>
            </a:r>
            <a:r>
              <a:t>, </a:t>
            </a:r>
            <a:r>
              <a:rPr err="1"/>
              <a:t>statt</a:t>
            </a:r>
            <a:r>
              <a:t> für </a:t>
            </a:r>
            <a:r>
              <a:rPr err="1"/>
              <a:t>jeden</a:t>
            </a:r>
            <a:r>
              <a:t> Index </a:t>
            </a:r>
            <a:r>
              <a:rPr err="1"/>
              <a:t>einzeln</a:t>
            </a:r>
            <a:r>
              <a:t> </a:t>
            </a:r>
            <a:r>
              <a:rPr err="1"/>
              <a:t>optimiert</a:t>
            </a:r>
            <a:r>
              <a:t> </a:t>
            </a:r>
            <a:r>
              <a:rPr err="1"/>
              <a:t>zu</a:t>
            </a:r>
            <a:r>
              <a:t> </a:t>
            </a:r>
            <a:r>
              <a:rPr err="1"/>
              <a:t>werden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</a:t>
            </a:r>
            <a:r>
              <a:rPr err="1"/>
              <a:t>gewählte</a:t>
            </a:r>
            <a:r>
              <a:t>, für alle vier </a:t>
            </a:r>
            <a:r>
              <a:rPr err="1"/>
              <a:t>Indizes</a:t>
            </a:r>
            <a:r>
              <a:t> </a:t>
            </a:r>
            <a:r>
              <a:rPr err="1"/>
              <a:t>gültige</a:t>
            </a:r>
            <a:r>
              <a:t> </a:t>
            </a:r>
            <a:r>
              <a:rPr err="1"/>
              <a:t>Kombination</a:t>
            </a:r>
            <a:r>
              <a:t> </a:t>
            </a:r>
            <a:r>
              <a:rPr err="1"/>
              <a:t>besteht</a:t>
            </a:r>
            <a:r>
              <a:t> </a:t>
            </a:r>
            <a:r>
              <a:rPr err="1"/>
              <a:t>aus</a:t>
            </a:r>
            <a:r>
              <a:t> vier </a:t>
            </a:r>
            <a:r>
              <a:rPr err="1"/>
              <a:t>Signalen</a:t>
            </a:r>
            <a:r>
              <a:t>: Kurs </a:t>
            </a:r>
            <a:r>
              <a:rPr err="1"/>
              <a:t>unter</a:t>
            </a:r>
            <a:r>
              <a:t> SMA20, SMA100 und SMA200 </a:t>
            </a:r>
            <a:r>
              <a:rPr err="1"/>
              <a:t>sowie</a:t>
            </a:r>
            <a:r>
              <a:t> </a:t>
            </a:r>
            <a:r>
              <a:rPr err="1"/>
              <a:t>ein</a:t>
            </a:r>
            <a:r>
              <a:t> </a:t>
            </a:r>
            <a:r>
              <a:rPr err="1"/>
              <a:t>fallender</a:t>
            </a:r>
            <a:r>
              <a:t> SMA20 – </a:t>
            </a:r>
            <a:r>
              <a:rPr err="1"/>
              <a:t>nach</a:t>
            </a:r>
            <a:r>
              <a:t> dem </a:t>
            </a:r>
            <a:r>
              <a:rPr err="1"/>
              <a:t>strengen</a:t>
            </a:r>
            <a:r>
              <a:t> </a:t>
            </a:r>
            <a:r>
              <a:rPr err="1"/>
              <a:t>Einstimmigkeitsprinzip</a:t>
            </a:r>
            <a:r>
              <a:t> </a:t>
            </a:r>
            <a:r>
              <a:rPr err="1"/>
              <a:t>ist</a:t>
            </a:r>
            <a:r>
              <a:t> Grün </a:t>
            </a:r>
            <a:r>
              <a:rPr err="1"/>
              <a:t>nur</a:t>
            </a:r>
            <a:r>
              <a:t> </a:t>
            </a:r>
            <a:r>
              <a:rPr err="1"/>
              <a:t>bei</a:t>
            </a:r>
            <a:r>
              <a:t> 0 </a:t>
            </a:r>
            <a:r>
              <a:rPr err="1"/>
              <a:t>Prozent</a:t>
            </a:r>
            <a:r>
              <a:t> </a:t>
            </a:r>
            <a:r>
              <a:rPr err="1"/>
              <a:t>belasteten</a:t>
            </a:r>
            <a:r>
              <a:t> </a:t>
            </a:r>
            <a:r>
              <a:rPr err="1"/>
              <a:t>Signalen</a:t>
            </a:r>
            <a:r>
              <a:t>, Rot erst </a:t>
            </a:r>
            <a:r>
              <a:rPr err="1"/>
              <a:t>bei</a:t>
            </a:r>
            <a:r>
              <a:t> 100 </a:t>
            </a:r>
            <a:r>
              <a:rPr err="1"/>
              <a:t>Prozent</a:t>
            </a:r>
            <a:r>
              <a:t>. Das </a:t>
            </a:r>
            <a:r>
              <a:rPr err="1"/>
              <a:t>Ergebnis</a:t>
            </a:r>
            <a:r>
              <a:t>: Beim S&amp;P 500 </a:t>
            </a:r>
            <a:r>
              <a:rPr err="1"/>
              <a:t>sinkt</a:t>
            </a:r>
            <a:r>
              <a:t> der </a:t>
            </a:r>
            <a:r>
              <a:rPr err="1"/>
              <a:t>historische</a:t>
            </a:r>
            <a:r>
              <a:t> Max Drawdown von minus 56,8 auf minus 38,6 </a:t>
            </a:r>
            <a:r>
              <a:rPr err="1"/>
              <a:t>Prozent</a:t>
            </a:r>
            <a:r>
              <a:t>, </a:t>
            </a:r>
            <a:r>
              <a:rPr err="1"/>
              <a:t>bei</a:t>
            </a:r>
            <a:r>
              <a:t> </a:t>
            </a:r>
            <a:r>
              <a:rPr err="1"/>
              <a:t>gleichzeitig</a:t>
            </a:r>
            <a:r>
              <a:t> </a:t>
            </a:r>
            <a:r>
              <a:rPr err="1"/>
              <a:t>leicht</a:t>
            </a:r>
            <a:r>
              <a:t> </a:t>
            </a:r>
            <a:r>
              <a:rPr err="1"/>
              <a:t>steigender</a:t>
            </a:r>
            <a:r>
              <a:t> CAGR von 9,1 auf 9,6 </a:t>
            </a:r>
            <a:r>
              <a:rPr err="1"/>
              <a:t>Prozent</a:t>
            </a:r>
            <a:r>
              <a:t> pro Jahr. </a:t>
            </a:r>
            <a:r>
              <a:rPr err="1"/>
              <a:t>Über</a:t>
            </a:r>
            <a:r>
              <a:t> alle vier </a:t>
            </a:r>
            <a:r>
              <a:rPr err="1"/>
              <a:t>Indizes</a:t>
            </a:r>
            <a:r>
              <a:t> </a:t>
            </a:r>
            <a:r>
              <a:rPr err="1"/>
              <a:t>hinweg</a:t>
            </a:r>
            <a:r>
              <a:t> </a:t>
            </a:r>
            <a:r>
              <a:rPr err="1"/>
              <a:t>liegt</a:t>
            </a:r>
            <a:r>
              <a:t> der Rot-</a:t>
            </a:r>
            <a:r>
              <a:rPr err="1"/>
              <a:t>Anteil</a:t>
            </a:r>
            <a:r>
              <a:t> </a:t>
            </a:r>
            <a:r>
              <a:rPr err="1"/>
              <a:t>zwischen</a:t>
            </a:r>
            <a:r>
              <a:t> 11 und 16 </a:t>
            </a:r>
            <a:r>
              <a:rPr err="1"/>
              <a:t>Prozent</a:t>
            </a:r>
            <a:r>
              <a:t> der </a:t>
            </a:r>
            <a:r>
              <a:rPr err="1"/>
              <a:t>Handelstage</a:t>
            </a:r>
            <a:r>
              <a:t>. </a:t>
            </a:r>
            <a:r>
              <a:rPr err="1"/>
              <a:t>Statistisch</a:t>
            </a:r>
            <a:r>
              <a:t> </a:t>
            </a:r>
            <a:r>
              <a:rPr err="1"/>
              <a:t>abgesichert</a:t>
            </a:r>
            <a:r>
              <a:t> </a:t>
            </a:r>
            <a:r>
              <a:rPr err="1"/>
              <a:t>haben</a:t>
            </a:r>
            <a:r>
              <a:t> </a:t>
            </a:r>
            <a:r>
              <a:rPr err="1"/>
              <a:t>wir</a:t>
            </a:r>
            <a:r>
              <a:t> das Ganze </a:t>
            </a:r>
            <a:r>
              <a:rPr err="1"/>
              <a:t>über</a:t>
            </a:r>
            <a:r>
              <a:t> t-Test und Mann-Whitney-U-Test, und </a:t>
            </a:r>
            <a:r>
              <a:rPr err="1"/>
              <a:t>realitätsnah</a:t>
            </a:r>
            <a:r>
              <a:t> </a:t>
            </a:r>
            <a:r>
              <a:rPr err="1"/>
              <a:t>simuliert</a:t>
            </a:r>
            <a:r>
              <a:t>: Ein Signal </a:t>
            </a:r>
            <a:r>
              <a:rPr err="1"/>
              <a:t>wirkt</a:t>
            </a:r>
            <a:r>
              <a:t> erst am </a:t>
            </a:r>
            <a:r>
              <a:rPr err="1"/>
              <a:t>Folgetag</a:t>
            </a:r>
            <a:r>
              <a:t>, es </a:t>
            </a:r>
            <a:r>
              <a:rPr err="1"/>
              <a:t>gibt</a:t>
            </a:r>
            <a:r>
              <a:t> also </a:t>
            </a:r>
            <a:r>
              <a:rPr err="1"/>
              <a:t>keinen</a:t>
            </a:r>
            <a:r>
              <a:t> Blick in die Zukunft.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3A14-7D2E-6B9B-A073-C16CFBF4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47CC6-6248-9FB1-E643-07F0168F2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74046-4892-361C-8976-ED1D7FC12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</a:t>
            </a:r>
            <a:r>
              <a:rPr err="1"/>
              <a:t>gewählte</a:t>
            </a:r>
            <a:r>
              <a:t>, für alle vier </a:t>
            </a:r>
            <a:r>
              <a:rPr err="1"/>
              <a:t>Indizes</a:t>
            </a:r>
            <a:r>
              <a:t> </a:t>
            </a:r>
            <a:r>
              <a:rPr err="1"/>
              <a:t>gültige</a:t>
            </a:r>
            <a:r>
              <a:t> </a:t>
            </a:r>
            <a:r>
              <a:rPr err="1"/>
              <a:t>Kombination</a:t>
            </a:r>
            <a:r>
              <a:t> </a:t>
            </a:r>
            <a:r>
              <a:rPr err="1"/>
              <a:t>besteht</a:t>
            </a:r>
            <a:r>
              <a:t> </a:t>
            </a:r>
            <a:r>
              <a:rPr err="1"/>
              <a:t>aus</a:t>
            </a:r>
            <a:r>
              <a:t> vier </a:t>
            </a:r>
            <a:r>
              <a:rPr err="1"/>
              <a:t>Signalen</a:t>
            </a:r>
            <a:r>
              <a:t>: Kurs </a:t>
            </a:r>
            <a:r>
              <a:rPr err="1"/>
              <a:t>unter</a:t>
            </a:r>
            <a:r>
              <a:t> SMA20, SMA100 und SMA200 </a:t>
            </a:r>
            <a:r>
              <a:rPr err="1"/>
              <a:t>sowie</a:t>
            </a:r>
            <a:r>
              <a:t> </a:t>
            </a:r>
            <a:r>
              <a:rPr err="1"/>
              <a:t>ein</a:t>
            </a:r>
            <a:r>
              <a:t> </a:t>
            </a:r>
            <a:r>
              <a:rPr err="1"/>
              <a:t>fallender</a:t>
            </a:r>
            <a:r>
              <a:t> SMA20 – </a:t>
            </a:r>
            <a:r>
              <a:rPr err="1"/>
              <a:t>nach</a:t>
            </a:r>
            <a:r>
              <a:t> dem </a:t>
            </a:r>
            <a:r>
              <a:rPr err="1"/>
              <a:t>strengen</a:t>
            </a:r>
            <a:r>
              <a:t> </a:t>
            </a:r>
            <a:r>
              <a:rPr err="1"/>
              <a:t>Einstimmigkeitsprinzip</a:t>
            </a:r>
            <a:r>
              <a:t> </a:t>
            </a:r>
            <a:r>
              <a:rPr err="1"/>
              <a:t>ist</a:t>
            </a:r>
            <a:r>
              <a:t> Grün </a:t>
            </a:r>
            <a:r>
              <a:rPr err="1"/>
              <a:t>nur</a:t>
            </a:r>
            <a:r>
              <a:t> </a:t>
            </a:r>
            <a:r>
              <a:rPr err="1"/>
              <a:t>bei</a:t>
            </a:r>
            <a:r>
              <a:t> 0 </a:t>
            </a:r>
            <a:r>
              <a:rPr err="1"/>
              <a:t>Prozent</a:t>
            </a:r>
            <a:r>
              <a:t> </a:t>
            </a:r>
            <a:r>
              <a:rPr err="1"/>
              <a:t>belasteten</a:t>
            </a:r>
            <a:r>
              <a:t> </a:t>
            </a:r>
            <a:r>
              <a:rPr err="1"/>
              <a:t>Signalen</a:t>
            </a:r>
            <a:r>
              <a:t>, Rot erst </a:t>
            </a:r>
            <a:r>
              <a:rPr err="1"/>
              <a:t>bei</a:t>
            </a:r>
            <a:r>
              <a:t> 100 </a:t>
            </a:r>
            <a:r>
              <a:rPr err="1"/>
              <a:t>Prozent</a:t>
            </a:r>
            <a:r>
              <a:t>. Das </a:t>
            </a:r>
            <a:r>
              <a:rPr err="1"/>
              <a:t>Ergebnis</a:t>
            </a:r>
            <a:r>
              <a:t>: Beim S&amp;P 500 </a:t>
            </a:r>
            <a:r>
              <a:rPr err="1"/>
              <a:t>sinkt</a:t>
            </a:r>
            <a:r>
              <a:t> der </a:t>
            </a:r>
            <a:r>
              <a:rPr err="1"/>
              <a:t>historische</a:t>
            </a:r>
            <a:r>
              <a:t> Max Drawdown von minus 56,8 auf minus 38,6 </a:t>
            </a:r>
            <a:r>
              <a:rPr err="1"/>
              <a:t>Prozent</a:t>
            </a:r>
            <a:r>
              <a:t>, </a:t>
            </a:r>
            <a:r>
              <a:rPr err="1"/>
              <a:t>bei</a:t>
            </a:r>
            <a:r>
              <a:t> </a:t>
            </a:r>
            <a:r>
              <a:rPr err="1"/>
              <a:t>gleichzeitig</a:t>
            </a:r>
            <a:r>
              <a:t> </a:t>
            </a:r>
            <a:r>
              <a:rPr err="1"/>
              <a:t>leicht</a:t>
            </a:r>
            <a:r>
              <a:t> </a:t>
            </a:r>
            <a:r>
              <a:rPr err="1"/>
              <a:t>steigender</a:t>
            </a:r>
            <a:r>
              <a:t> CAGR von 9,1 auf 9,6 </a:t>
            </a:r>
            <a:r>
              <a:rPr err="1"/>
              <a:t>Prozent</a:t>
            </a:r>
            <a:r>
              <a:t> pro Jahr. </a:t>
            </a:r>
            <a:r>
              <a:rPr err="1"/>
              <a:t>Über</a:t>
            </a:r>
            <a:r>
              <a:t> alle vier </a:t>
            </a:r>
            <a:r>
              <a:rPr err="1"/>
              <a:t>Indizes</a:t>
            </a:r>
            <a:r>
              <a:t> </a:t>
            </a:r>
            <a:r>
              <a:rPr err="1"/>
              <a:t>hinweg</a:t>
            </a:r>
            <a:r>
              <a:t> </a:t>
            </a:r>
            <a:r>
              <a:rPr err="1"/>
              <a:t>liegt</a:t>
            </a:r>
            <a:r>
              <a:t> der Rot-</a:t>
            </a:r>
            <a:r>
              <a:rPr err="1"/>
              <a:t>Anteil</a:t>
            </a:r>
            <a:r>
              <a:t> </a:t>
            </a:r>
            <a:r>
              <a:rPr err="1"/>
              <a:t>zwischen</a:t>
            </a:r>
            <a:r>
              <a:t> 11 und 16 </a:t>
            </a:r>
            <a:r>
              <a:rPr err="1"/>
              <a:t>Prozent</a:t>
            </a:r>
            <a:r>
              <a:t> der </a:t>
            </a:r>
            <a:r>
              <a:rPr err="1"/>
              <a:t>Handelstage</a:t>
            </a:r>
            <a:r>
              <a:t>. </a:t>
            </a:r>
            <a:r>
              <a:rPr err="1"/>
              <a:t>Statistisch</a:t>
            </a:r>
            <a:r>
              <a:t> </a:t>
            </a:r>
            <a:r>
              <a:rPr err="1"/>
              <a:t>abgesichert</a:t>
            </a:r>
            <a:r>
              <a:t> </a:t>
            </a:r>
            <a:r>
              <a:rPr err="1"/>
              <a:t>haben</a:t>
            </a:r>
            <a:r>
              <a:t> </a:t>
            </a:r>
            <a:r>
              <a:rPr err="1"/>
              <a:t>wir</a:t>
            </a:r>
            <a:r>
              <a:t> das Ganze </a:t>
            </a:r>
            <a:r>
              <a:rPr err="1"/>
              <a:t>über</a:t>
            </a:r>
            <a:r>
              <a:t> t-Test und Mann-Whitney-U-Test, und </a:t>
            </a:r>
            <a:r>
              <a:rPr err="1"/>
              <a:t>realitätsnah</a:t>
            </a:r>
            <a:r>
              <a:t> </a:t>
            </a:r>
            <a:r>
              <a:rPr err="1"/>
              <a:t>simuliert</a:t>
            </a:r>
            <a:r>
              <a:t>: Ein Signal </a:t>
            </a:r>
            <a:r>
              <a:rPr err="1"/>
              <a:t>wirkt</a:t>
            </a:r>
            <a:r>
              <a:t> erst am </a:t>
            </a:r>
            <a:r>
              <a:rPr err="1"/>
              <a:t>Folgetag</a:t>
            </a:r>
            <a:r>
              <a:t>, es </a:t>
            </a:r>
            <a:r>
              <a:rPr err="1"/>
              <a:t>gibt</a:t>
            </a:r>
            <a:r>
              <a:t> also </a:t>
            </a:r>
            <a:r>
              <a:rPr err="1"/>
              <a:t>keinen</a:t>
            </a:r>
            <a:r>
              <a:t> Blick in die Zukunft.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71DC5-DC2C-D0E6-2C26-B76D11A04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969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Damit die Ampel nicht nur im Notebook, sondern auch live nutzbar ist, haben wir sie als Streamlit-Dashboard umgesetzt – öffentlich erreichbar und für alle nutzbar. </a:t>
            </a:r>
          </a:p>
          <a:p>
            <a:r>
              <a:rPr lang="en-US"/>
              <a:t>Das Dashboard berechnet den aktuellen Ampelstatus für alle vier Indizes aus den neun Signalen der vier Indikator-Familien: Trend, Marktbreite, Volatilität und Sentiment. Kurse und die Volatilitätsindizes lädt es dabei live von Yahoo Finance beziehungsweise der CBOE, Marktbreite und Put-Call-Ratio sind aus Datenverfügbarkeitsgründen als Datensätze hinterlegt, die regelmäßig aktualisiert werden müssen. </a:t>
            </a:r>
          </a:p>
          <a:p>
            <a:r>
              <a:rPr lang="en-US"/>
              <a:t>Neben dem aktuellen Status zeigt das Dashboard den Kursverlauf mit Ampel-Hintergrund sowie eine Was-wäre-wenn-Simulation. Das zeige ich Ihnen jetzt kurz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57ADB-8B9D-D427-F62F-7F0697409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DCA4F-D285-8E16-492E-D1DFD2AE5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8E599D-F94F-6FE9-C284-2FF6D5BDF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Zusammengefasst: Eine rein kursbasierte, für vier unterschiedliche Indizes gleichermaßen gültige Risikoampel reduziert historisch den maximalen </a:t>
            </a:r>
            <a:r>
              <a:rPr lang="de-DE" err="1"/>
              <a:t>Drawdown</a:t>
            </a:r>
            <a:r>
              <a:rPr lang="de-DE"/>
              <a:t> spürbar, ohne die Rendite zu beeinträchtigen – statistisch abgesichert und realitätsnah simuliert. Als nächste Schritte sehen wir: das Signal-Set auf weitere Indizes und Anlageklassen ausweiten, sowie Benachrichtigungen bei Ampelwechsel erweitern. Vielen Dank für Ihre Aufmerksamkeit!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99EC0-F1C5-83B1-5E3D-B60035857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1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hyperlink" Target="https://aktien-risikoampel.streamlit.app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1600200"/>
            <a:ext cx="91440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1371600" y="1965960"/>
            <a:ext cx="9448495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„Verliere niemals Geld.“
</a:t>
            </a:r>
            <a:r>
              <a:rPr lang="en-US" sz="1300" i="1">
                <a:solidFill>
                  <a:srgbClr val="9AA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Warren Buffetts Regel Nummer 1
</a:t>
            </a: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„Vergiss niemals Regel Nummer 1.“
</a:t>
            </a:r>
            <a:r>
              <a:rPr lang="en-US" sz="1300" i="1">
                <a:solidFill>
                  <a:srgbClr val="9AA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Regel Nummer 2</a:t>
            </a:r>
            <a:endParaRPr lang="en-US"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75000"/>
            <a:alpha val="4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E94AC221-C1A7-3F7D-29BE-3ED700C4A7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88" t="2902" r="3513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9AE4B936-7A2A-52C6-0CB9-784248F05016}"/>
              </a:ext>
            </a:extLst>
          </p:cNvPr>
          <p:cNvGrpSpPr/>
          <p:nvPr/>
        </p:nvGrpSpPr>
        <p:grpSpPr>
          <a:xfrm>
            <a:off x="548640" y="1417320"/>
            <a:ext cx="11094415" cy="2286000"/>
            <a:chOff x="548640" y="1417320"/>
            <a:chExt cx="11094415" cy="2286000"/>
          </a:xfrm>
        </p:grpSpPr>
        <p:sp>
          <p:nvSpPr>
            <p:cNvPr id="2" name="Text 0"/>
            <p:cNvSpPr/>
            <p:nvPr/>
          </p:nvSpPr>
          <p:spPr>
            <a:xfrm>
              <a:off x="548640" y="1417320"/>
              <a:ext cx="11094415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kern="0" spc="22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ABSCHLUSSPROJEKT</a:t>
              </a:r>
              <a:endParaRPr lang="en-US" sz="1300"/>
            </a:p>
          </p:txBody>
        </p:sp>
        <p:sp>
          <p:nvSpPr>
            <p:cNvPr id="3" name="Text 1"/>
            <p:cNvSpPr/>
            <p:nvPr/>
          </p:nvSpPr>
          <p:spPr>
            <a:xfrm>
              <a:off x="548640" y="1828800"/>
              <a:ext cx="11094415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46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Aktien-Risikoampel</a:t>
              </a:r>
              <a:endParaRPr lang="en-US" sz="4600"/>
            </a:p>
          </p:txBody>
        </p:sp>
        <p:sp>
          <p:nvSpPr>
            <p:cNvPr id="4" name="Text 2"/>
            <p:cNvSpPr/>
            <p:nvPr/>
          </p:nvSpPr>
          <p:spPr>
            <a:xfrm>
              <a:off x="548640" y="2880360"/>
              <a:ext cx="969264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2200"/>
                </a:lnSpc>
                <a:buNone/>
              </a:pPr>
              <a:r>
                <a:rPr lang="en-US" sz="1500" i="1">
                  <a:solidFill>
                    <a:srgbClr val="C7D1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Ein universeller Marktindikator zur Indexüberwachung — optimiert durch zielgerichtete</a:t>
              </a:r>
              <a:endParaRPr lang="en-US" sz="1500"/>
            </a:p>
            <a:p>
              <a:pPr marL="0" indent="0">
                <a:lnSpc>
                  <a:spcPts val="2200"/>
                </a:lnSpc>
                <a:buNone/>
              </a:pPr>
              <a:r>
                <a:rPr lang="en-US" sz="1500" i="1">
                  <a:solidFill>
                    <a:srgbClr val="C7D1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EDA für eine verständliche, risikofokussierte Zustandserkennung</a:t>
              </a:r>
              <a:endParaRPr lang="en-US" sz="1500"/>
            </a:p>
          </p:txBody>
        </p:sp>
      </p:grpSp>
      <p:sp>
        <p:nvSpPr>
          <p:cNvPr id="7" name="Text 2">
            <a:extLst>
              <a:ext uri="{FF2B5EF4-FFF2-40B4-BE49-F238E27FC236}">
                <a16:creationId xmlns:a16="http://schemas.microsoft.com/office/drawing/2014/main" id="{97F68742-BE4B-A153-AA88-483DB2ACB6BD}"/>
              </a:ext>
            </a:extLst>
          </p:cNvPr>
          <p:cNvSpPr/>
          <p:nvPr/>
        </p:nvSpPr>
        <p:spPr>
          <a:xfrm>
            <a:off x="7200992" y="6447989"/>
            <a:ext cx="5194086" cy="4098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2200"/>
              </a:lnSpc>
            </a:pPr>
            <a:r>
              <a:rPr lang="en-US" sz="1500" i="1">
                <a:solidFill>
                  <a:srgbClr val="C7D1E6"/>
                </a:solidFill>
                <a:latin typeface="Calibri"/>
                <a:ea typeface="Calibri"/>
                <a:cs typeface="Calibri"/>
              </a:rPr>
              <a:t>Christiane Rebecca Zach, Jennifer Klett, Yannic Ramos Gameiro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fik 36">
            <a:extLst>
              <a:ext uri="{FF2B5EF4-FFF2-40B4-BE49-F238E27FC236}">
                <a16:creationId xmlns:a16="http://schemas.microsoft.com/office/drawing/2014/main" id="{B184AAFE-817E-7090-4A9C-9118E33EA7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 DER PRÄSENTATION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141732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77240" y="17647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B9C4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1600200" y="1783080"/>
            <a:ext cx="41070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 &amp; Zielsetzung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600200" y="2221992"/>
            <a:ext cx="41070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Risikofokus statt Rendite, und wofür die Ampel eingesetzt wird.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6255868" y="1600200"/>
            <a:ext cx="5387188" cy="141732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84468" y="17647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B9C4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/>
          </a:p>
        </p:txBody>
      </p:sp>
      <p:sp>
        <p:nvSpPr>
          <p:cNvPr id="10" name="Text 8"/>
          <p:cNvSpPr/>
          <p:nvPr/>
        </p:nvSpPr>
        <p:spPr>
          <a:xfrm>
            <a:off x="7307428" y="1783080"/>
            <a:ext cx="41070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Vorgehensweise &amp; Tools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7307428" y="2221992"/>
            <a:ext cx="41070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Datenbeschaffung bis zur EDA im Jupyter Notebook.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387188" cy="141732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77240" y="34564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B9C4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/>
          </a:p>
        </p:txBody>
      </p:sp>
      <p:sp>
        <p:nvSpPr>
          <p:cNvPr id="14" name="Text 12"/>
          <p:cNvSpPr/>
          <p:nvPr/>
        </p:nvSpPr>
        <p:spPr>
          <a:xfrm>
            <a:off x="1600200" y="3474720"/>
            <a:ext cx="41070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Indikatoren &amp; Erkenntnisse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1600200" y="3913632"/>
            <a:ext cx="41070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SMA, Volatilitätsindizes, Marktbreite und Put-/Call-Ratio im Detail.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6255868" y="3291840"/>
            <a:ext cx="5387188" cy="141732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484468" y="34564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B9C4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/>
          </a:p>
        </p:txBody>
      </p:sp>
      <p:sp>
        <p:nvSpPr>
          <p:cNvPr id="18" name="Text 16"/>
          <p:cNvSpPr/>
          <p:nvPr/>
        </p:nvSpPr>
        <p:spPr>
          <a:xfrm>
            <a:off x="7307428" y="3474720"/>
            <a:ext cx="41070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Kombinierte Risikoampel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7307428" y="3913632"/>
            <a:ext cx="41070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Verdichtung der Einzelsignale zu einer Grün-Gelb-Rot-Systematik.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5387188" cy="141732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777240" y="514807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B9C4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/>
          </a:p>
        </p:txBody>
      </p:sp>
      <p:sp>
        <p:nvSpPr>
          <p:cNvPr id="22" name="Text 20"/>
          <p:cNvSpPr/>
          <p:nvPr/>
        </p:nvSpPr>
        <p:spPr>
          <a:xfrm>
            <a:off x="1600200" y="5166360"/>
            <a:ext cx="41070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Streamlit-Dashboard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1600200" y="5605272"/>
            <a:ext cx="41070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Live-Darstellung des Ampelstatus für ausgewählte Indizes.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6255868" y="4983480"/>
            <a:ext cx="5387188" cy="141732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484468" y="514807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B9C4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/>
          </a:p>
        </p:txBody>
      </p:sp>
      <p:sp>
        <p:nvSpPr>
          <p:cNvPr id="26" name="Text 24"/>
          <p:cNvSpPr/>
          <p:nvPr/>
        </p:nvSpPr>
        <p:spPr>
          <a:xfrm>
            <a:off x="7307428" y="5166360"/>
            <a:ext cx="41070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&amp; Ausblick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7307428" y="5605272"/>
            <a:ext cx="41070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 Erkenntnisse und nächste Schritte.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Aktien-Risikoampel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3 / 24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fik 31">
            <a:extLst>
              <a:ext uri="{FF2B5EF4-FFF2-40B4-BE49-F238E27FC236}">
                <a16:creationId xmlns:a16="http://schemas.microsoft.com/office/drawing/2014/main" id="{591FB19B-1B86-D5A1-B48A-D056D726A72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AUSGANGSLAGE &amp; ZIELSETZUNG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Zielsetzung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0" descr="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41" y="176534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77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Aktien-Risikoampel</a:t>
            </a:r>
            <a:endParaRPr lang="en-US" sz="170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Zustandsanalyse zur Bestimmung des aktuellen Marktzustands unter Risikogesichtspunkten — die Rendite steht dabei bewusst nicht im Vordergrund.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1" descr="icons/compas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41" y="405134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663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Anwendungsbereich (Scope)</a:t>
            </a:r>
            <a:endParaRPr lang="en-US" sz="1700"/>
          </a:p>
        </p:txBody>
      </p:sp>
      <p:sp>
        <p:nvSpPr>
          <p:cNvPr id="11" name="Text 7"/>
          <p:cNvSpPr/>
          <p:nvPr/>
        </p:nvSpPr>
        <p:spPr>
          <a:xfrm>
            <a:off x="548640" y="50749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Universell</a:t>
            </a:r>
            <a:r>
              <a:rPr lang="en-US" sz="13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einsetzbar</a:t>
            </a:r>
            <a:r>
              <a:rPr lang="en-US" sz="13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EDA auf </a:t>
            </a:r>
            <a:r>
              <a:rPr lang="en-US" sz="130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</a:t>
            </a:r>
            <a:r>
              <a:rPr lang="en-US" sz="13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</a:t>
            </a:r>
            <a:r>
              <a:rPr lang="en-US" sz="130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wichtigsten</a:t>
            </a:r>
            <a:r>
              <a:rPr lang="en-US" sz="13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3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</a:t>
            </a:r>
            <a:r>
              <a:rPr lang="en-US" sz="130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Aktienindizes</a:t>
            </a:r>
            <a:r>
              <a:rPr lang="en-US" sz="130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1691640"/>
            <a:ext cx="5379415" cy="397764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9"/>
          <p:cNvSpPr/>
          <p:nvPr/>
        </p:nvSpPr>
        <p:spPr>
          <a:xfrm>
            <a:off x="6583680" y="1920240"/>
            <a:ext cx="4739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Untersuchte Indizes</a:t>
            </a:r>
            <a:endParaRPr lang="en-US" sz="1300"/>
          </a:p>
        </p:txBody>
      </p:sp>
      <p:sp>
        <p:nvSpPr>
          <p:cNvPr id="14" name="Shape 10"/>
          <p:cNvSpPr/>
          <p:nvPr/>
        </p:nvSpPr>
        <p:spPr>
          <a:xfrm>
            <a:off x="6583680" y="2514600"/>
            <a:ext cx="109728" cy="10972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1"/>
          <p:cNvSpPr/>
          <p:nvPr/>
        </p:nvSpPr>
        <p:spPr>
          <a:xfrm>
            <a:off x="6858000" y="2377440"/>
            <a:ext cx="4465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1500"/>
          </a:p>
        </p:txBody>
      </p:sp>
      <p:sp>
        <p:nvSpPr>
          <p:cNvPr id="16" name="Shape 12"/>
          <p:cNvSpPr/>
          <p:nvPr/>
        </p:nvSpPr>
        <p:spPr>
          <a:xfrm>
            <a:off x="6583680" y="2880360"/>
            <a:ext cx="4739335" cy="0"/>
          </a:xfrm>
          <a:prstGeom prst="line">
            <a:avLst/>
          </a:prstGeom>
          <a:noFill/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3"/>
          <p:cNvSpPr/>
          <p:nvPr/>
        </p:nvSpPr>
        <p:spPr>
          <a:xfrm>
            <a:off x="6583680" y="3264408"/>
            <a:ext cx="109728" cy="10972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4"/>
          <p:cNvSpPr/>
          <p:nvPr/>
        </p:nvSpPr>
        <p:spPr>
          <a:xfrm>
            <a:off x="6858000" y="3127248"/>
            <a:ext cx="4465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 Jones Industrial Average</a:t>
            </a:r>
            <a:endParaRPr lang="en-US" sz="1500"/>
          </a:p>
        </p:txBody>
      </p:sp>
      <p:sp>
        <p:nvSpPr>
          <p:cNvPr id="19" name="Shape 15"/>
          <p:cNvSpPr/>
          <p:nvPr/>
        </p:nvSpPr>
        <p:spPr>
          <a:xfrm>
            <a:off x="6583680" y="3630168"/>
            <a:ext cx="4739335" cy="0"/>
          </a:xfrm>
          <a:prstGeom prst="line">
            <a:avLst/>
          </a:prstGeom>
          <a:noFill/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6"/>
          <p:cNvSpPr/>
          <p:nvPr/>
        </p:nvSpPr>
        <p:spPr>
          <a:xfrm>
            <a:off x="6583680" y="4014216"/>
            <a:ext cx="109728" cy="10972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7"/>
          <p:cNvSpPr/>
          <p:nvPr/>
        </p:nvSpPr>
        <p:spPr>
          <a:xfrm>
            <a:off x="6858000" y="3877056"/>
            <a:ext cx="4465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 100</a:t>
            </a:r>
            <a:endParaRPr lang="en-US" sz="1500"/>
          </a:p>
        </p:txBody>
      </p:sp>
      <p:sp>
        <p:nvSpPr>
          <p:cNvPr id="22" name="Shape 18"/>
          <p:cNvSpPr/>
          <p:nvPr/>
        </p:nvSpPr>
        <p:spPr>
          <a:xfrm>
            <a:off x="6583680" y="4379976"/>
            <a:ext cx="4739335" cy="0"/>
          </a:xfrm>
          <a:prstGeom prst="line">
            <a:avLst/>
          </a:prstGeom>
          <a:noFill/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19"/>
          <p:cNvSpPr/>
          <p:nvPr/>
        </p:nvSpPr>
        <p:spPr>
          <a:xfrm>
            <a:off x="6583680" y="4764024"/>
            <a:ext cx="109728" cy="10972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0"/>
          <p:cNvSpPr/>
          <p:nvPr/>
        </p:nvSpPr>
        <p:spPr>
          <a:xfrm>
            <a:off x="6858000" y="4626864"/>
            <a:ext cx="4465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 2000</a:t>
            </a:r>
            <a:endParaRPr lang="en-US" sz="1500"/>
          </a:p>
        </p:txBody>
      </p:sp>
      <p:sp>
        <p:nvSpPr>
          <p:cNvPr id="25" name="Text 2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Aktien-Risikoampel</a:t>
            </a:r>
            <a:endParaRPr lang="en-US" sz="900"/>
          </a:p>
        </p:txBody>
      </p:sp>
      <p:sp>
        <p:nvSpPr>
          <p:cNvPr id="26" name="Text 22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4 / 24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fik 31">
            <a:extLst>
              <a:ext uri="{FF2B5EF4-FFF2-40B4-BE49-F238E27FC236}">
                <a16:creationId xmlns:a16="http://schemas.microsoft.com/office/drawing/2014/main" id="{B16B6299-9F8E-AFB2-E8A7-5A17A898E9E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AUSGANGSLAGE &amp; ZIELSETZUNG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Risiko statt Rendite?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864" cy="19659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411480" cy="411480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2110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Psychologie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2110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hohe Risiken führen zum frühzeitigen Ausstieg aus dem Investment.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390824" y="1600200"/>
            <a:ext cx="2567864" cy="19659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619424" y="1828800"/>
            <a:ext cx="411480" cy="411480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619424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3619424" y="2377440"/>
            <a:ext cx="2110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Erholung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3619424" y="2743200"/>
            <a:ext cx="2110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Vermeidung von Risiken ermöglicht Erholung von höherem Niveau.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6233008" y="1600200"/>
            <a:ext cx="2567864" cy="19659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461608" y="1828800"/>
            <a:ext cx="411480" cy="411480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461608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6461608" y="2377440"/>
            <a:ext cx="2110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Marathon, kein Sprint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6461608" y="2743200"/>
            <a:ext cx="2110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Vermögensanlage ist auf lange Sicht ausgelegt.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9075191" y="1600200"/>
            <a:ext cx="2567864" cy="19659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9303791" y="1828800"/>
            <a:ext cx="411480" cy="411480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9303791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9303791" y="2377440"/>
            <a:ext cx="2110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Opportunitäten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9303791" y="2743200"/>
            <a:ext cx="2110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von Risiko ermöglicht gleichzeitig die Identifikation von Chancen.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11094415" cy="1783080"/>
          </a:xfrm>
          <a:prstGeom prst="rect">
            <a:avLst/>
          </a:prstGeom>
          <a:solidFill>
            <a:srgbClr val="16233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914400" y="4087368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messen wir das Risiko?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914400" y="4416552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Max-Drawdown über 30 / 60 / 90 Tage</a:t>
            </a:r>
            <a:endParaRPr lang="en-US" sz="1900"/>
          </a:p>
        </p:txBody>
      </p:sp>
      <p:sp>
        <p:nvSpPr>
          <p:cNvPr id="27" name="Text 25"/>
          <p:cNvSpPr/>
          <p:nvPr/>
        </p:nvSpPr>
        <p:spPr>
          <a:xfrm>
            <a:off x="914400" y="4873752"/>
            <a:ext cx="103628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Max-Drawdown = maximaler Verlust (%), den ein Anleger erlitten hätte, wenn er zum absoluten Höchstpunkt gekauft und zum tiefsten Punkt des Marktes wieder verkauft hätte.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Aktien-Risikoampel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5 / 24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rafik 51">
            <a:extLst>
              <a:ext uri="{FF2B5EF4-FFF2-40B4-BE49-F238E27FC236}">
                <a16:creationId xmlns:a16="http://schemas.microsoft.com/office/drawing/2014/main" id="{9336A391-D687-8700-E57B-4BBC9D594CC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VORGEHENSWEISE &amp; TOOLS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Vorgehensweise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1234440" y="2579370"/>
            <a:ext cx="9722815" cy="0"/>
          </a:xfrm>
          <a:prstGeom prst="line">
            <a:avLst/>
          </a:prstGeom>
          <a:noFill/>
          <a:ln w="254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923544" y="2268474"/>
            <a:ext cx="621792" cy="621792"/>
          </a:xfrm>
          <a:prstGeom prst="ellipse">
            <a:avLst/>
          </a:prstGeom>
          <a:solidFill>
            <a:srgbClr val="2C4A8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23544" y="226847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330738" y="3036570"/>
            <a:ext cx="180740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Projektorganisation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376458" y="3813810"/>
            <a:ext cx="1715963" cy="292608"/>
          </a:xfrm>
          <a:prstGeom prst="roundRect">
            <a:avLst>
              <a:gd name="adj" fmla="val 18750"/>
            </a:avLst>
          </a:prstGeom>
          <a:solidFill>
            <a:srgbClr val="F4F6FA"/>
          </a:solidFill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76458" y="3813810"/>
            <a:ext cx="17159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376458" y="4179570"/>
            <a:ext cx="1715963" cy="292608"/>
          </a:xfrm>
          <a:prstGeom prst="roundRect">
            <a:avLst>
              <a:gd name="adj" fmla="val 18750"/>
            </a:avLst>
          </a:prstGeom>
          <a:solidFill>
            <a:srgbClr val="F4F6FA"/>
          </a:solidFill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76458" y="4179570"/>
            <a:ext cx="17159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2868107" y="2268474"/>
            <a:ext cx="621792" cy="621792"/>
          </a:xfrm>
          <a:prstGeom prst="ellipse">
            <a:avLst/>
          </a:prstGeom>
          <a:solidFill>
            <a:srgbClr val="2C4A8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2868107" y="226847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2275302" y="3036570"/>
            <a:ext cx="180740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Datenbeschaffung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2321022" y="3813810"/>
            <a:ext cx="1715963" cy="292608"/>
          </a:xfrm>
          <a:prstGeom prst="roundRect">
            <a:avLst>
              <a:gd name="adj" fmla="val 18750"/>
            </a:avLst>
          </a:prstGeom>
          <a:solidFill>
            <a:srgbClr val="F4F6FA"/>
          </a:solidFill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2321022" y="3813810"/>
            <a:ext cx="17159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2321022" y="4179570"/>
            <a:ext cx="1715963" cy="292608"/>
          </a:xfrm>
          <a:prstGeom prst="roundRect">
            <a:avLst>
              <a:gd name="adj" fmla="val 18750"/>
            </a:avLst>
          </a:prstGeom>
          <a:solidFill>
            <a:srgbClr val="F4F6FA"/>
          </a:solidFill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2321022" y="4179570"/>
            <a:ext cx="17159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4812670" y="2268474"/>
            <a:ext cx="621792" cy="621792"/>
          </a:xfrm>
          <a:prstGeom prst="ellipse">
            <a:avLst/>
          </a:prstGeom>
          <a:solidFill>
            <a:srgbClr val="2C4A8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812670" y="226847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4219865" y="3036570"/>
            <a:ext cx="180740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Datensichtung &amp;</a:t>
            </a:r>
            <a:endParaRPr lang="en-US" sz="115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-bereinigung</a:t>
            </a:r>
            <a:endParaRPr lang="en-US" sz="1150"/>
          </a:p>
        </p:txBody>
      </p:sp>
      <p:sp>
        <p:nvSpPr>
          <p:cNvPr id="23" name="Shape 21"/>
          <p:cNvSpPr/>
          <p:nvPr/>
        </p:nvSpPr>
        <p:spPr>
          <a:xfrm>
            <a:off x="4265585" y="3813810"/>
            <a:ext cx="1715963" cy="292608"/>
          </a:xfrm>
          <a:prstGeom prst="roundRect">
            <a:avLst>
              <a:gd name="adj" fmla="val 18750"/>
            </a:avLst>
          </a:prstGeom>
          <a:solidFill>
            <a:srgbClr val="F4F6FA"/>
          </a:solidFill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265585" y="3813810"/>
            <a:ext cx="17159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4265585" y="4179570"/>
            <a:ext cx="1715963" cy="292608"/>
          </a:xfrm>
          <a:prstGeom prst="roundRect">
            <a:avLst>
              <a:gd name="adj" fmla="val 18750"/>
            </a:avLst>
          </a:prstGeom>
          <a:solidFill>
            <a:srgbClr val="F4F6FA"/>
          </a:solidFill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265585" y="4179570"/>
            <a:ext cx="17159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6757233" y="2268474"/>
            <a:ext cx="621792" cy="621792"/>
          </a:xfrm>
          <a:prstGeom prst="ellipse">
            <a:avLst/>
          </a:prstGeom>
          <a:solidFill>
            <a:srgbClr val="2C4A8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757233" y="226847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/>
          </a:p>
        </p:txBody>
      </p:sp>
      <p:sp>
        <p:nvSpPr>
          <p:cNvPr id="29" name="Text 27"/>
          <p:cNvSpPr/>
          <p:nvPr/>
        </p:nvSpPr>
        <p:spPr>
          <a:xfrm>
            <a:off x="6164428" y="3036570"/>
            <a:ext cx="180740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Explorative</a:t>
            </a:r>
            <a:endParaRPr lang="en-US" sz="115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Datenanalyse</a:t>
            </a:r>
            <a:endParaRPr lang="en-US" sz="1150"/>
          </a:p>
        </p:txBody>
      </p:sp>
      <p:sp>
        <p:nvSpPr>
          <p:cNvPr id="30" name="Shape 28"/>
          <p:cNvSpPr/>
          <p:nvPr/>
        </p:nvSpPr>
        <p:spPr>
          <a:xfrm>
            <a:off x="6210148" y="3813810"/>
            <a:ext cx="1715963" cy="292608"/>
          </a:xfrm>
          <a:prstGeom prst="roundRect">
            <a:avLst>
              <a:gd name="adj" fmla="val 18750"/>
            </a:avLst>
          </a:prstGeom>
          <a:solidFill>
            <a:srgbClr val="F4F6FA"/>
          </a:solidFill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6210148" y="3813810"/>
            <a:ext cx="17159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6210148" y="4179570"/>
            <a:ext cx="1715963" cy="292608"/>
          </a:xfrm>
          <a:prstGeom prst="roundRect">
            <a:avLst>
              <a:gd name="adj" fmla="val 18750"/>
            </a:avLst>
          </a:prstGeom>
          <a:solidFill>
            <a:srgbClr val="F4F6FA"/>
          </a:solidFill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6210148" y="4179570"/>
            <a:ext cx="17159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10111955" y="4178101"/>
            <a:ext cx="1715963" cy="292608"/>
          </a:xfrm>
          <a:prstGeom prst="roundRect">
            <a:avLst>
              <a:gd name="adj" fmla="val 18750"/>
            </a:avLst>
          </a:prstGeom>
          <a:solidFill>
            <a:srgbClr val="F4F6FA"/>
          </a:solidFill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10111955" y="4178101"/>
            <a:ext cx="17159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8701796" y="2268474"/>
            <a:ext cx="621792" cy="621792"/>
          </a:xfrm>
          <a:prstGeom prst="ellipse">
            <a:avLst/>
          </a:prstGeom>
          <a:solidFill>
            <a:srgbClr val="2C4A8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8701796" y="226847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/>
          </a:p>
        </p:txBody>
      </p:sp>
      <p:sp>
        <p:nvSpPr>
          <p:cNvPr id="38" name="Text 36"/>
          <p:cNvSpPr/>
          <p:nvPr/>
        </p:nvSpPr>
        <p:spPr>
          <a:xfrm>
            <a:off x="8108991" y="3036570"/>
            <a:ext cx="180740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Zeitreihenanalyse,</a:t>
            </a:r>
            <a:endParaRPr lang="en-US" sz="115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Modellierung</a:t>
            </a:r>
            <a:endParaRPr lang="en-US" sz="1150"/>
          </a:p>
        </p:txBody>
      </p:sp>
      <p:sp>
        <p:nvSpPr>
          <p:cNvPr id="39" name="Shape 37"/>
          <p:cNvSpPr/>
          <p:nvPr/>
        </p:nvSpPr>
        <p:spPr>
          <a:xfrm>
            <a:off x="8154711" y="3813810"/>
            <a:ext cx="1715963" cy="292608"/>
          </a:xfrm>
          <a:prstGeom prst="roundRect">
            <a:avLst>
              <a:gd name="adj" fmla="val 18750"/>
            </a:avLst>
          </a:prstGeom>
          <a:solidFill>
            <a:srgbClr val="F4F6FA"/>
          </a:solidFill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8154711" y="3813810"/>
            <a:ext cx="17159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10646359" y="2268474"/>
            <a:ext cx="621792" cy="621792"/>
          </a:xfrm>
          <a:prstGeom prst="ellipse">
            <a:avLst/>
          </a:prstGeom>
          <a:solidFill>
            <a:srgbClr val="2C4A8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10646359" y="226847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/>
          </a:p>
        </p:txBody>
      </p:sp>
      <p:sp>
        <p:nvSpPr>
          <p:cNvPr id="45" name="Text 43"/>
          <p:cNvSpPr/>
          <p:nvPr/>
        </p:nvSpPr>
        <p:spPr>
          <a:xfrm>
            <a:off x="10053554" y="3036570"/>
            <a:ext cx="180740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Visualisierung &amp; App</a:t>
            </a:r>
            <a:endParaRPr lang="en-US" sz="1150"/>
          </a:p>
        </p:txBody>
      </p:sp>
      <p:sp>
        <p:nvSpPr>
          <p:cNvPr id="46" name="Shape 44"/>
          <p:cNvSpPr/>
          <p:nvPr/>
        </p:nvSpPr>
        <p:spPr>
          <a:xfrm>
            <a:off x="10099274" y="3813810"/>
            <a:ext cx="1715963" cy="292608"/>
          </a:xfrm>
          <a:prstGeom prst="roundRect">
            <a:avLst>
              <a:gd name="adj" fmla="val 18750"/>
            </a:avLst>
          </a:prstGeom>
          <a:solidFill>
            <a:srgbClr val="F4F6FA"/>
          </a:solidFill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10099274" y="3813810"/>
            <a:ext cx="17159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/>
          </a:p>
        </p:txBody>
      </p:sp>
      <p:sp>
        <p:nvSpPr>
          <p:cNvPr id="48" name="Text 4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Aktien-Risikoampel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6 / 24</a:t>
            </a:r>
            <a:endParaRPr lang="en-US" sz="900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EB376885-C60E-E0BF-D1AE-374F26C5BB01}"/>
              </a:ext>
            </a:extLst>
          </p:cNvPr>
          <p:cNvSpPr/>
          <p:nvPr/>
        </p:nvSpPr>
        <p:spPr>
          <a:xfrm>
            <a:off x="2322771" y="4555980"/>
            <a:ext cx="1715963" cy="292608"/>
          </a:xfrm>
          <a:prstGeom prst="roundRect">
            <a:avLst>
              <a:gd name="adj" fmla="val 18750"/>
            </a:avLst>
          </a:prstGeom>
          <a:solidFill>
            <a:srgbClr val="F4F6FA"/>
          </a:solidFill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D72C4441-8EDD-FFE9-B3B1-9D7948C5428A}"/>
              </a:ext>
            </a:extLst>
          </p:cNvPr>
          <p:cNvSpPr/>
          <p:nvPr/>
        </p:nvSpPr>
        <p:spPr>
          <a:xfrm>
            <a:off x="2321021" y="4557448"/>
            <a:ext cx="1715963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CBOE</a:t>
            </a:r>
            <a:endParaRPr lang="en-US"/>
          </a:p>
        </p:txBody>
      </p:sp>
      <p:sp>
        <p:nvSpPr>
          <p:cNvPr id="55" name="Shape 30">
            <a:extLst>
              <a:ext uri="{FF2B5EF4-FFF2-40B4-BE49-F238E27FC236}">
                <a16:creationId xmlns:a16="http://schemas.microsoft.com/office/drawing/2014/main" id="{99FBC83D-95F2-F45E-A1E8-37CAF7BF18CB}"/>
              </a:ext>
            </a:extLst>
          </p:cNvPr>
          <p:cNvSpPr/>
          <p:nvPr/>
        </p:nvSpPr>
        <p:spPr>
          <a:xfrm>
            <a:off x="6210147" y="4554708"/>
            <a:ext cx="1715963" cy="292608"/>
          </a:xfrm>
          <a:prstGeom prst="roundRect">
            <a:avLst>
              <a:gd name="adj" fmla="val 18750"/>
            </a:avLst>
          </a:prstGeom>
          <a:solidFill>
            <a:srgbClr val="F4F6FA"/>
          </a:solidFill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31">
            <a:extLst>
              <a:ext uri="{FF2B5EF4-FFF2-40B4-BE49-F238E27FC236}">
                <a16:creationId xmlns:a16="http://schemas.microsoft.com/office/drawing/2014/main" id="{8DCDD11F-29DF-7662-DE8B-9664CD24E858}"/>
              </a:ext>
            </a:extLst>
          </p:cNvPr>
          <p:cNvSpPr/>
          <p:nvPr/>
        </p:nvSpPr>
        <p:spPr>
          <a:xfrm>
            <a:off x="6210147" y="4554707"/>
            <a:ext cx="1715963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scipy</a:t>
            </a:r>
            <a:endParaRPr lang="en-US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1F5BA459-9F67-BEE0-404F-957B8F6D5D7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INDIKATOREN &amp; ERKENNTNISSE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Indikatoren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Signalgruppen bilden die Grundlage der Risikoampel — jede beleuchtet den Markt aus einer anderen Perspektive.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2084070"/>
            <a:ext cx="2567864" cy="35661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" y="2404110"/>
            <a:ext cx="594360" cy="594360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0" descr="icons/tren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227" y="2481377"/>
            <a:ext cx="439826" cy="4398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81350"/>
            <a:ext cx="2019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Gleitende Durchschnitte (SMA)</a:t>
            </a:r>
            <a:endParaRPr lang="en-US" sz="1450"/>
          </a:p>
        </p:txBody>
      </p:sp>
      <p:sp>
        <p:nvSpPr>
          <p:cNvPr id="9" name="Text 6"/>
          <p:cNvSpPr/>
          <p:nvPr/>
        </p:nvSpPr>
        <p:spPr>
          <a:xfrm>
            <a:off x="822960" y="4050030"/>
            <a:ext cx="20192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Trendbestimmung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Indexebene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unterschiedliche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Zeiträume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3390824" y="2084070"/>
            <a:ext cx="2567864" cy="35661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3665144" y="2404110"/>
            <a:ext cx="594360" cy="594360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1" descr="icons/activit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2411" y="2481377"/>
            <a:ext cx="439826" cy="439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65144" y="3181350"/>
            <a:ext cx="2019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Volatilitätsindizes</a:t>
            </a:r>
            <a:endParaRPr lang="en-US" sz="1450"/>
          </a:p>
        </p:txBody>
      </p:sp>
      <p:sp>
        <p:nvSpPr>
          <p:cNvPr id="14" name="Text 10"/>
          <p:cNvSpPr/>
          <p:nvPr/>
        </p:nvSpPr>
        <p:spPr>
          <a:xfrm>
            <a:off x="3665144" y="4050030"/>
            <a:ext cx="20192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Angstbarometer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die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erwartete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Schwankungsbreite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Marktes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/>
          </a:p>
        </p:txBody>
      </p:sp>
      <p:sp>
        <p:nvSpPr>
          <p:cNvPr id="15" name="Shape 11"/>
          <p:cNvSpPr/>
          <p:nvPr/>
        </p:nvSpPr>
        <p:spPr>
          <a:xfrm>
            <a:off x="6233008" y="2084070"/>
            <a:ext cx="2567864" cy="35661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6507328" y="2404110"/>
            <a:ext cx="594360" cy="594360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7" name="Image 2" descr="icons/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4594" y="2481377"/>
            <a:ext cx="439826" cy="4398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07328" y="3181350"/>
            <a:ext cx="2019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Marktbreiteindikatoren</a:t>
            </a:r>
            <a:endParaRPr lang="en-US" sz="1450"/>
          </a:p>
        </p:txBody>
      </p:sp>
      <p:sp>
        <p:nvSpPr>
          <p:cNvPr id="19" name="Text 14"/>
          <p:cNvSpPr/>
          <p:nvPr/>
        </p:nvSpPr>
        <p:spPr>
          <a:xfrm>
            <a:off x="6507328" y="4050030"/>
            <a:ext cx="20192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Anteil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Indexkomponenten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ihrem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individuellen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SMA.</a:t>
            </a:r>
            <a:endParaRPr lang="en-US" sz="1100"/>
          </a:p>
        </p:txBody>
      </p:sp>
      <p:sp>
        <p:nvSpPr>
          <p:cNvPr id="20" name="Shape 15"/>
          <p:cNvSpPr/>
          <p:nvPr/>
        </p:nvSpPr>
        <p:spPr>
          <a:xfrm>
            <a:off x="9075191" y="2084070"/>
            <a:ext cx="2567864" cy="35661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Shape 16"/>
          <p:cNvSpPr/>
          <p:nvPr/>
        </p:nvSpPr>
        <p:spPr>
          <a:xfrm>
            <a:off x="9349511" y="2404110"/>
            <a:ext cx="594360" cy="594360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2" name="Image 3" descr="icons/pie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778" y="2481377"/>
            <a:ext cx="439826" cy="4398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49511" y="3181350"/>
            <a:ext cx="2019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Put-/Call-Ratio</a:t>
            </a:r>
            <a:endParaRPr lang="en-US" sz="1450"/>
          </a:p>
        </p:txBody>
      </p:sp>
      <p:sp>
        <p:nvSpPr>
          <p:cNvPr id="24" name="Text 18"/>
          <p:cNvSpPr/>
          <p:nvPr/>
        </p:nvSpPr>
        <p:spPr>
          <a:xfrm>
            <a:off x="9349511" y="4050030"/>
            <a:ext cx="20192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Verhältnis von Absicherungs- zu Spekulationsbedürfnis.</a:t>
            </a:r>
            <a:endParaRPr lang="en-US" sz="110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Aktien-Risikoampel</a:t>
            </a:r>
            <a:endParaRPr lang="en-US" sz="900"/>
          </a:p>
        </p:txBody>
      </p:sp>
      <p:sp>
        <p:nvSpPr>
          <p:cNvPr id="26" name="Text 20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7 / 24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fik 22">
            <a:extLst>
              <a:ext uri="{FF2B5EF4-FFF2-40B4-BE49-F238E27FC236}">
                <a16:creationId xmlns:a16="http://schemas.microsoft.com/office/drawing/2014/main" id="{D0365AF8-496A-F49D-902B-208AB060B07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4728"/>
          <a:stretch>
            <a:fillRect/>
          </a:stretch>
        </p:blipFill>
        <p:spPr>
          <a:xfrm>
            <a:off x="0" y="-18288"/>
            <a:ext cx="12192000" cy="14767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INDIKATOREN &amp; ERKENNTNISSE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 (Simple Moving Average)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75488" cy="47548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0" descr="icons/hel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53" y="1753453"/>
            <a:ext cx="351861" cy="3518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709928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das?</a:t>
            </a:r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1207008" y="2057400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 zur Bestimmung des Trends.</a:t>
            </a:r>
            <a:endParaRPr lang="en-US" sz="1150"/>
          </a:p>
        </p:txBody>
      </p:sp>
      <p:sp>
        <p:nvSpPr>
          <p:cNvPr id="8" name="Shape 5"/>
          <p:cNvSpPr/>
          <p:nvPr/>
        </p:nvSpPr>
        <p:spPr>
          <a:xfrm>
            <a:off x="548640" y="2990088"/>
            <a:ext cx="475488" cy="47548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1" descr="icons/bar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53" y="3051901"/>
            <a:ext cx="351861" cy="3518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3008376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wird ausgedrückt?</a:t>
            </a:r>
            <a:endParaRPr lang="en-US" sz="1350"/>
          </a:p>
        </p:txBody>
      </p:sp>
      <p:sp>
        <p:nvSpPr>
          <p:cNvPr id="11" name="Text 7"/>
          <p:cNvSpPr/>
          <p:nvPr/>
        </p:nvSpPr>
        <p:spPr>
          <a:xfrm>
            <a:off x="1207008" y="3355848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Durchschnittspreise eines Aktienindex über unterschiedliche Zeiträume (20 / 100 / 200).</a:t>
            </a:r>
            <a:endParaRPr lang="en-US" sz="1150"/>
          </a:p>
        </p:txBody>
      </p:sp>
      <p:sp>
        <p:nvSpPr>
          <p:cNvPr id="12" name="Shape 8"/>
          <p:cNvSpPr/>
          <p:nvPr/>
        </p:nvSpPr>
        <p:spPr>
          <a:xfrm>
            <a:off x="548640" y="4288536"/>
            <a:ext cx="475488" cy="47548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2" descr="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453" y="4350349"/>
            <a:ext cx="351861" cy="3518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4306824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ausgewählt?</a:t>
            </a:r>
            <a:endParaRPr lang="en-US" sz="1350"/>
          </a:p>
        </p:txBody>
      </p:sp>
      <p:sp>
        <p:nvSpPr>
          <p:cNvPr id="15" name="Text 10"/>
          <p:cNvSpPr/>
          <p:nvPr/>
        </p:nvSpPr>
        <p:spPr>
          <a:xfrm>
            <a:off x="1207008" y="4654296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Sofortige Trenderkennung (bullisch oder bärisch).</a:t>
            </a:r>
            <a:endParaRPr lang="en-US" sz="1150"/>
          </a:p>
        </p:txBody>
      </p:sp>
      <p:sp>
        <p:nvSpPr>
          <p:cNvPr id="16" name="Shape 11"/>
          <p:cNvSpPr/>
          <p:nvPr/>
        </p:nvSpPr>
        <p:spPr>
          <a:xfrm>
            <a:off x="6263640" y="1691640"/>
            <a:ext cx="5379415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7" name="Image 3" descr="cropped/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1801368"/>
            <a:ext cx="5159959" cy="337468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0" y="5285232"/>
            <a:ext cx="51050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mit SMA200</a:t>
            </a:r>
            <a:endParaRPr lang="en-US" sz="1150"/>
          </a:p>
        </p:txBody>
      </p:sp>
      <p:sp>
        <p:nvSpPr>
          <p:cNvPr id="19" name="Text 1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</a:t>
            </a:r>
            <a:endParaRPr lang="de-DE" err="1"/>
          </a:p>
        </p:txBody>
      </p:sp>
      <p:sp>
        <p:nvSpPr>
          <p:cNvPr id="20" name="Text 14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8 / 24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fik 26">
            <a:extLst>
              <a:ext uri="{FF2B5EF4-FFF2-40B4-BE49-F238E27FC236}">
                <a16:creationId xmlns:a16="http://schemas.microsoft.com/office/drawing/2014/main" id="{5D4F846A-2265-E779-0938-9DE853291C8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INDIKATOREN &amp; ERKENNTNISSE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Hypothesen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Begrenzter Einblick ausgewählter Hypothesen</a:t>
            </a:r>
            <a:endParaRPr lang="en-US" sz="115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4415" cy="61264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749808" y="2098548"/>
            <a:ext cx="347472" cy="347472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49808" y="20985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10088575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 über/unter SMA liefert …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94415" cy="61264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749808" y="2875788"/>
            <a:ext cx="347472" cy="347472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49808" y="28757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1325880" y="2743200"/>
            <a:ext cx="10088575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steigend/fallend liefert …</a:t>
            </a:r>
            <a:endParaRPr lang="en-US" sz="135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94415" cy="61264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749808" y="3653028"/>
            <a:ext cx="347472" cy="347472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49808" y="36530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325880" y="3520440"/>
            <a:ext cx="10088575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Kreuzung eines kurzfristigen SMA über einen längerfristigen von oben nach unten (Death Cross) liefert …</a:t>
            </a:r>
            <a:endParaRPr lang="en-US" sz="135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1094415" cy="61264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749808" y="4430268"/>
            <a:ext cx="347472" cy="347472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49808" y="44302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1325880" y="4297680"/>
            <a:ext cx="10088575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Abstand des aktuellen Kurses zum Allzeithoch liefert …</a:t>
            </a:r>
            <a:endParaRPr lang="en-US" sz="1350"/>
          </a:p>
        </p:txBody>
      </p:sp>
      <p:sp>
        <p:nvSpPr>
          <p:cNvPr id="21" name="Shape 19"/>
          <p:cNvSpPr/>
          <p:nvPr/>
        </p:nvSpPr>
        <p:spPr>
          <a:xfrm>
            <a:off x="548640" y="5184648"/>
            <a:ext cx="11094415" cy="594360"/>
          </a:xfrm>
          <a:prstGeom prst="rect">
            <a:avLst/>
          </a:prstGeom>
          <a:solidFill>
            <a:srgbClr val="16233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822960" y="5184648"/>
            <a:ext cx="105457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Informationen über den Max-Drawdown der Folgeperiode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Aktien-Risikoampel</a:t>
            </a:r>
            <a:endParaRPr lang="de-DE" dirty="0"/>
          </a:p>
        </p:txBody>
      </p:sp>
      <p:sp>
        <p:nvSpPr>
          <p:cNvPr id="24" name="Text 22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9 / 24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>
            <a:extLst>
              <a:ext uri="{FF2B5EF4-FFF2-40B4-BE49-F238E27FC236}">
                <a16:creationId xmlns:a16="http://schemas.microsoft.com/office/drawing/2014/main" id="{A171243C-8122-42FE-AC5B-B1549CD75C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INDIKATOREN &amp; ERKENNTNISSE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Erkenntnisse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Bezug: S&amp;P 500 — Analysen zu den anderen Indizes liefern ähnliche Ergebnisse</a:t>
            </a:r>
            <a:endParaRPr lang="en-US" sz="115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1525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8368" y="2031329"/>
            <a:ext cx="3295802" cy="20141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690872"/>
            <a:ext cx="32409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 über vs. unter SMA200</a:t>
            </a:r>
            <a:endParaRPr lang="en-US" sz="1150"/>
          </a:p>
        </p:txBody>
      </p:sp>
      <p:sp>
        <p:nvSpPr>
          <p:cNvPr id="8" name="Shape 5"/>
          <p:cNvSpPr/>
          <p:nvPr/>
        </p:nvSpPr>
        <p:spPr>
          <a:xfrm>
            <a:off x="4338218" y="1828800"/>
            <a:ext cx="351525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9" name="Image 1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47946" y="2008408"/>
            <a:ext cx="3295802" cy="20141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75378" y="4690872"/>
            <a:ext cx="32409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SMA200 steigend vs. fallend</a:t>
            </a:r>
            <a:endParaRPr lang="en-US" sz="1150"/>
          </a:p>
        </p:txBody>
      </p:sp>
      <p:sp>
        <p:nvSpPr>
          <p:cNvPr id="11" name="Shape 7"/>
          <p:cNvSpPr/>
          <p:nvPr/>
        </p:nvSpPr>
        <p:spPr>
          <a:xfrm>
            <a:off x="8127797" y="1828800"/>
            <a:ext cx="351525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2" name="Image 2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37525" y="2026316"/>
            <a:ext cx="3295802" cy="20141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64957" y="4690872"/>
            <a:ext cx="32409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Abstand Kurs zu Allzeithoch</a:t>
            </a:r>
            <a:endParaRPr lang="en-US" sz="1150"/>
          </a:p>
        </p:txBody>
      </p:sp>
      <p:sp>
        <p:nvSpPr>
          <p:cNvPr id="14" name="Shape 9"/>
          <p:cNvSpPr/>
          <p:nvPr/>
        </p:nvSpPr>
        <p:spPr>
          <a:xfrm>
            <a:off x="548640" y="5303520"/>
            <a:ext cx="11094415" cy="86868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0"/>
          <p:cNvSpPr/>
          <p:nvPr/>
        </p:nvSpPr>
        <p:spPr>
          <a:xfrm>
            <a:off x="822960" y="5303520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Fazit: </a:t>
            </a:r>
            <a:r>
              <a:rPr lang="en-US" sz="12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 den untersuchten Hypothesen eignen sich insbesondere diese drei Parameter, um das Drawdown-Risiko zu reduzieren.</a:t>
            </a:r>
            <a:endParaRPr lang="en-US" sz="1250"/>
          </a:p>
        </p:txBody>
      </p:sp>
      <p:sp>
        <p:nvSpPr>
          <p:cNvPr id="16" name="Text 1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Aktien-Risikoampel</a:t>
            </a:r>
            <a:endParaRPr lang="de-DE" dirty="0"/>
          </a:p>
        </p:txBody>
      </p:sp>
      <p:sp>
        <p:nvSpPr>
          <p:cNvPr id="17" name="Text 12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10 / 24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fik 22">
            <a:extLst>
              <a:ext uri="{FF2B5EF4-FFF2-40B4-BE49-F238E27FC236}">
                <a16:creationId xmlns:a16="http://schemas.microsoft.com/office/drawing/2014/main" id="{FAF8A971-980E-062B-53CE-D35A480C009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4728"/>
          <a:stretch>
            <a:fillRect/>
          </a:stretch>
        </p:blipFill>
        <p:spPr>
          <a:xfrm>
            <a:off x="0" y="-18288"/>
            <a:ext cx="12192000" cy="14767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INDIKATOREN &amp; ERKENNTNISSE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Volatilitätsindizes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75488" cy="47548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0" descr="icons/hel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53" y="1753453"/>
            <a:ext cx="351861" cy="3518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709928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das?</a:t>
            </a:r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1207008" y="2057400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Angstbarometer; funktioniert strukturell anders als der Aktienmarkt (keine steigende Tendenz).</a:t>
            </a:r>
            <a:endParaRPr lang="en-US" sz="1150"/>
          </a:p>
        </p:txBody>
      </p:sp>
      <p:sp>
        <p:nvSpPr>
          <p:cNvPr id="8" name="Shape 5"/>
          <p:cNvSpPr/>
          <p:nvPr/>
        </p:nvSpPr>
        <p:spPr>
          <a:xfrm>
            <a:off x="548640" y="2990088"/>
            <a:ext cx="475488" cy="47548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1" descr="icons/bar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53" y="3051901"/>
            <a:ext cx="351861" cy="3518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3008376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wird ausgedrückt?</a:t>
            </a:r>
            <a:endParaRPr lang="en-US" sz="1350"/>
          </a:p>
        </p:txBody>
      </p:sp>
      <p:sp>
        <p:nvSpPr>
          <p:cNvPr id="11" name="Text 7"/>
          <p:cNvSpPr/>
          <p:nvPr/>
        </p:nvSpPr>
        <p:spPr>
          <a:xfrm>
            <a:off x="1207008" y="3355848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Erwartete Schwankungsbreite des Marktes für die nächsten 30 Tage.</a:t>
            </a:r>
            <a:endParaRPr lang="en-US" sz="1150"/>
          </a:p>
        </p:txBody>
      </p:sp>
      <p:sp>
        <p:nvSpPr>
          <p:cNvPr id="12" name="Shape 8"/>
          <p:cNvSpPr/>
          <p:nvPr/>
        </p:nvSpPr>
        <p:spPr>
          <a:xfrm>
            <a:off x="548640" y="4288536"/>
            <a:ext cx="475488" cy="47548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2" descr="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453" y="4350349"/>
            <a:ext cx="351861" cy="3518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4306824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ausgewählt?</a:t>
            </a:r>
            <a:endParaRPr lang="en-US" sz="1350"/>
          </a:p>
        </p:txBody>
      </p:sp>
      <p:sp>
        <p:nvSpPr>
          <p:cNvPr id="15" name="Text 10"/>
          <p:cNvSpPr/>
          <p:nvPr/>
        </p:nvSpPr>
        <p:spPr>
          <a:xfrm>
            <a:off x="1207008" y="4654296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Vorwärtsgerichtet und misst die Panik am Markt.</a:t>
            </a:r>
            <a:endParaRPr lang="en-US" sz="1150"/>
          </a:p>
        </p:txBody>
      </p:sp>
      <p:sp>
        <p:nvSpPr>
          <p:cNvPr id="16" name="Shape 11"/>
          <p:cNvSpPr/>
          <p:nvPr/>
        </p:nvSpPr>
        <p:spPr>
          <a:xfrm>
            <a:off x="6263640" y="1691640"/>
            <a:ext cx="5379415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7" name="Image 3" descr="cropped/imag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1801368"/>
            <a:ext cx="5159959" cy="338908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0" y="5285232"/>
            <a:ext cx="51050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VIX-Verlauf</a:t>
            </a:r>
            <a:endParaRPr lang="en-US" sz="1150"/>
          </a:p>
        </p:txBody>
      </p:sp>
      <p:sp>
        <p:nvSpPr>
          <p:cNvPr id="19" name="Text 1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Aktien-Risikoampel</a:t>
            </a:r>
            <a:endParaRPr lang="de-DE" dirty="0"/>
          </a:p>
        </p:txBody>
      </p:sp>
      <p:sp>
        <p:nvSpPr>
          <p:cNvPr id="20" name="Text 14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11 / 24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fik 22">
            <a:extLst>
              <a:ext uri="{FF2B5EF4-FFF2-40B4-BE49-F238E27FC236}">
                <a16:creationId xmlns:a16="http://schemas.microsoft.com/office/drawing/2014/main" id="{C496D76F-5F09-6F2A-40B0-CA09CF80A0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INDIKATOREN &amp; ERKENNTNISSE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Hypothesen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Begrenzter Einblick ausgewählter Hypothesen</a:t>
            </a:r>
            <a:endParaRPr lang="en-US" sz="115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4415" cy="61264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749808" y="2098548"/>
            <a:ext cx="347472" cy="347472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49808" y="20985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10088575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Indexspezifische Schwellenwerte liefern …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94415" cy="61264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749808" y="2875788"/>
            <a:ext cx="347472" cy="347472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49808" y="28757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1325880" y="2743200"/>
            <a:ext cx="10088575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„3-Monats-Hochs“ liefern …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749808" y="36530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A9495FF8-2FE3-6391-7722-A7E4E708755E}"/>
              </a:ext>
            </a:extLst>
          </p:cNvPr>
          <p:cNvGrpSpPr/>
          <p:nvPr/>
        </p:nvGrpSpPr>
        <p:grpSpPr>
          <a:xfrm>
            <a:off x="548640" y="3529224"/>
            <a:ext cx="11094415" cy="594360"/>
            <a:chOff x="548640" y="4407408"/>
            <a:chExt cx="11094415" cy="594360"/>
          </a:xfrm>
        </p:grpSpPr>
        <p:sp>
          <p:nvSpPr>
            <p:cNvPr id="17" name="Shape 15"/>
            <p:cNvSpPr/>
            <p:nvPr/>
          </p:nvSpPr>
          <p:spPr>
            <a:xfrm>
              <a:off x="548640" y="4407408"/>
              <a:ext cx="11094415" cy="594360"/>
            </a:xfrm>
            <a:prstGeom prst="rect">
              <a:avLst/>
            </a:prstGeom>
            <a:solidFill>
              <a:srgbClr val="16233F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Text 16"/>
            <p:cNvSpPr/>
            <p:nvPr/>
          </p:nvSpPr>
          <p:spPr>
            <a:xfrm>
              <a:off x="822960" y="4407408"/>
              <a:ext cx="10545775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… </a:t>
              </a:r>
              <a:r>
                <a:rPr lang="en-US" sz="1300" i="1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Informationen</a:t>
              </a:r>
              <a:r>
                <a:rPr lang="en-US" sz="1300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300" i="1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über</a:t>
              </a:r>
              <a:r>
                <a:rPr lang="en-US" sz="1300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den Max-Drawdown der </a:t>
              </a:r>
              <a:r>
                <a:rPr lang="en-US" sz="1300" i="1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Folgeperiode</a:t>
              </a:r>
              <a:endParaRPr lang="en-US" sz="13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Aktien-Risikoampel</a:t>
            </a:r>
            <a:endParaRPr lang="de-DE" dirty="0"/>
          </a:p>
        </p:txBody>
      </p:sp>
      <p:sp>
        <p:nvSpPr>
          <p:cNvPr id="20" name="Text 18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12 / 24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>
            <a:extLst>
              <a:ext uri="{FF2B5EF4-FFF2-40B4-BE49-F238E27FC236}">
                <a16:creationId xmlns:a16="http://schemas.microsoft.com/office/drawing/2014/main" id="{013937BE-BD1F-284E-D910-AD608B615B7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INDIKATOREN &amp; ERKENNTNISSE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Erkenntnisse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Bezug: VIX (Volatilitätsindex für S&amp;P 500) — Analysen zu den anderen Indizes liefern ähnliche Ergebnisse</a:t>
            </a:r>
            <a:endParaRPr lang="en-US" sz="1150"/>
          </a:p>
        </p:txBody>
      </p:sp>
      <p:sp>
        <p:nvSpPr>
          <p:cNvPr id="5" name="Shape 3"/>
          <p:cNvSpPr/>
          <p:nvPr/>
        </p:nvSpPr>
        <p:spPr>
          <a:xfrm>
            <a:off x="548639" y="1828800"/>
            <a:ext cx="52999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2206" y="2143969"/>
            <a:ext cx="4852766" cy="22997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1292" y="4690872"/>
            <a:ext cx="383459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je </a:t>
            </a:r>
            <a:r>
              <a:rPr lang="en-US" sz="1150" b="1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Ausgangsniveau</a:t>
            </a:r>
            <a:endParaRPr lang="en-US" sz="1150"/>
          </a:p>
        </p:txBody>
      </p:sp>
      <p:sp>
        <p:nvSpPr>
          <p:cNvPr id="11" name="Shape 7"/>
          <p:cNvSpPr/>
          <p:nvPr/>
        </p:nvSpPr>
        <p:spPr>
          <a:xfrm>
            <a:off x="6281559" y="1828800"/>
            <a:ext cx="52999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2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61918" y="1933976"/>
            <a:ext cx="4339181" cy="26517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33817" y="4690872"/>
            <a:ext cx="32409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</a:t>
            </a:r>
            <a:r>
              <a:rPr lang="en-US" sz="1150" b="1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neues</a:t>
            </a:r>
            <a:r>
              <a:rPr lang="en-US" sz="1150" b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„3-Monats-Hoch“</a:t>
            </a:r>
            <a:endParaRPr lang="en-US" sz="1150"/>
          </a:p>
        </p:txBody>
      </p:sp>
      <p:sp>
        <p:nvSpPr>
          <p:cNvPr id="14" name="Shape 9"/>
          <p:cNvSpPr/>
          <p:nvPr/>
        </p:nvSpPr>
        <p:spPr>
          <a:xfrm>
            <a:off x="548640" y="5303520"/>
            <a:ext cx="11094415" cy="86868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0"/>
          <p:cNvSpPr/>
          <p:nvPr/>
        </p:nvSpPr>
        <p:spPr>
          <a:xfrm>
            <a:off x="822960" y="5303520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r>
              <a:rPr lang="en-US" sz="12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5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Grundsätzliche</a:t>
            </a:r>
            <a:r>
              <a:rPr lang="en-US" sz="12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Eignung</a:t>
            </a:r>
            <a:r>
              <a:rPr lang="en-US" sz="12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</a:t>
            </a:r>
            <a:r>
              <a:rPr lang="en-US" sz="125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</a:t>
            </a:r>
            <a:r>
              <a:rPr lang="en-US" sz="12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Risikoampel</a:t>
            </a:r>
            <a:r>
              <a:rPr lang="en-US" sz="12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bestätigt</a:t>
            </a:r>
            <a:r>
              <a:rPr lang="en-US" sz="12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Erhöhte</a:t>
            </a:r>
            <a:r>
              <a:rPr lang="en-US" sz="12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Niveaus</a:t>
            </a:r>
            <a:r>
              <a:rPr lang="en-US" sz="12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deuten</a:t>
            </a:r>
            <a:r>
              <a:rPr lang="en-US" sz="12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</a:t>
            </a:r>
            <a:r>
              <a:rPr lang="en-US" sz="125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erhöhte</a:t>
            </a:r>
            <a:r>
              <a:rPr lang="en-US" sz="12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Drawdown-</a:t>
            </a:r>
            <a:r>
              <a:rPr lang="en-US" sz="125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Perioden</a:t>
            </a:r>
            <a:r>
              <a:rPr lang="en-US" sz="12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</a:t>
            </a:r>
            <a:r>
              <a:rPr lang="en-US" sz="12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250"/>
          </a:p>
        </p:txBody>
      </p:sp>
      <p:sp>
        <p:nvSpPr>
          <p:cNvPr id="16" name="Text 1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Aktien-Risikoampel</a:t>
            </a:r>
            <a:endParaRPr lang="de-DE" dirty="0"/>
          </a:p>
        </p:txBody>
      </p:sp>
      <p:sp>
        <p:nvSpPr>
          <p:cNvPr id="17" name="Text 12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13 / 24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fik 22">
            <a:extLst>
              <a:ext uri="{FF2B5EF4-FFF2-40B4-BE49-F238E27FC236}">
                <a16:creationId xmlns:a16="http://schemas.microsoft.com/office/drawing/2014/main" id="{1084B15C-DF3D-5BEA-6CBA-586A953A695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4728"/>
          <a:stretch>
            <a:fillRect/>
          </a:stretch>
        </p:blipFill>
        <p:spPr>
          <a:xfrm>
            <a:off x="0" y="-18288"/>
            <a:ext cx="12192000" cy="14767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INDIKATOREN &amp; ERKENNTNISSE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Marktbreiteindikatoren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75488" cy="47548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0" descr="icons/hel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53" y="1753453"/>
            <a:ext cx="351861" cy="3518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709928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das?</a:t>
            </a:r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1207008" y="2057400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 zur Messung der Marktbreite anhand einer Indexdurchschau.</a:t>
            </a:r>
            <a:endParaRPr lang="en-US" sz="1150"/>
          </a:p>
        </p:txBody>
      </p:sp>
      <p:sp>
        <p:nvSpPr>
          <p:cNvPr id="8" name="Shape 5"/>
          <p:cNvSpPr/>
          <p:nvPr/>
        </p:nvSpPr>
        <p:spPr>
          <a:xfrm>
            <a:off x="548640" y="2990088"/>
            <a:ext cx="475488" cy="47548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1" descr="icons/bar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53" y="3051901"/>
            <a:ext cx="351861" cy="3518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3008376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wird ausgedrückt?</a:t>
            </a:r>
            <a:endParaRPr lang="en-US" sz="1350"/>
          </a:p>
        </p:txBody>
      </p:sp>
      <p:sp>
        <p:nvSpPr>
          <p:cNvPr id="11" name="Text 7"/>
          <p:cNvSpPr/>
          <p:nvPr/>
        </p:nvSpPr>
        <p:spPr>
          <a:xfrm>
            <a:off x="1207008" y="3355848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Anteil der Einzelaktien eines Index über deren individuellen SMAs (20 / 50 / 200).</a:t>
            </a:r>
            <a:endParaRPr lang="en-US" sz="1150"/>
          </a:p>
        </p:txBody>
      </p:sp>
      <p:sp>
        <p:nvSpPr>
          <p:cNvPr id="12" name="Shape 8"/>
          <p:cNvSpPr/>
          <p:nvPr/>
        </p:nvSpPr>
        <p:spPr>
          <a:xfrm>
            <a:off x="548640" y="4288536"/>
            <a:ext cx="475488" cy="47548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2" descr="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453" y="4350349"/>
            <a:ext cx="351861" cy="3518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4306824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ausgewählt?</a:t>
            </a:r>
            <a:endParaRPr lang="en-US" sz="1350"/>
          </a:p>
        </p:txBody>
      </p:sp>
      <p:sp>
        <p:nvSpPr>
          <p:cNvPr id="15" name="Text 10"/>
          <p:cNvSpPr/>
          <p:nvPr/>
        </p:nvSpPr>
        <p:spPr>
          <a:xfrm>
            <a:off x="1207008" y="4654296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Zeigt, ob eine Kursbewegung in der Breite unterstützt wird oder auf fragilem Fundament steht.</a:t>
            </a:r>
            <a:endParaRPr lang="en-US" sz="1150"/>
          </a:p>
        </p:txBody>
      </p:sp>
      <p:sp>
        <p:nvSpPr>
          <p:cNvPr id="16" name="Shape 11"/>
          <p:cNvSpPr/>
          <p:nvPr/>
        </p:nvSpPr>
        <p:spPr>
          <a:xfrm>
            <a:off x="6263640" y="1691640"/>
            <a:ext cx="5379415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7" name="Image 3" descr="cropped/image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1801368"/>
            <a:ext cx="5159959" cy="33869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0" y="5285232"/>
            <a:ext cx="51050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Anteil S&amp;P-500-Aktien über SMA20</a:t>
            </a:r>
            <a:endParaRPr lang="en-US" sz="1150"/>
          </a:p>
        </p:txBody>
      </p:sp>
      <p:sp>
        <p:nvSpPr>
          <p:cNvPr id="19" name="Text 1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Aktien-Risikoampel</a:t>
            </a:r>
            <a:endParaRPr lang="de-DE" dirty="0"/>
          </a:p>
        </p:txBody>
      </p:sp>
      <p:sp>
        <p:nvSpPr>
          <p:cNvPr id="20" name="Text 14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>
            <a:extLst>
              <a:ext uri="{FF2B5EF4-FFF2-40B4-BE49-F238E27FC236}">
                <a16:creationId xmlns:a16="http://schemas.microsoft.com/office/drawing/2014/main" id="{48E912D7-1D7A-FBEA-D7FE-B50BADF723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008"/>
          <a:stretch>
            <a:fillRect/>
          </a:stretch>
        </p:blipFill>
        <p:spPr>
          <a:xfrm>
            <a:off x="0" y="-9144"/>
            <a:ext cx="12192000" cy="146761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INDIKATOREN &amp; ERKENNTNISSE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Hypothesen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Begrenzter Einblick ausgewählter Hypothesen</a:t>
            </a:r>
            <a:endParaRPr lang="en-US" sz="115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4415" cy="61264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749808" y="2098548"/>
            <a:ext cx="347472" cy="347472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49808" y="20985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10088575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Marktregime größer/kleiner 50% liefert …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94415" cy="61264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749808" y="2875788"/>
            <a:ext cx="347472" cy="347472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49808" y="28757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1325880" y="2743200"/>
            <a:ext cx="10088575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Marktbreite in Quartilen (25/50/75) liefert …</a:t>
            </a:r>
            <a:endParaRPr lang="en-US" sz="1350"/>
          </a:p>
        </p:txBody>
      </p:sp>
      <p:sp>
        <p:nvSpPr>
          <p:cNvPr id="13" name="Shape 11"/>
          <p:cNvSpPr/>
          <p:nvPr/>
        </p:nvSpPr>
        <p:spPr>
          <a:xfrm>
            <a:off x="548640" y="3630168"/>
            <a:ext cx="11094415" cy="594360"/>
          </a:xfrm>
          <a:prstGeom prst="rect">
            <a:avLst/>
          </a:prstGeom>
          <a:solidFill>
            <a:srgbClr val="16233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22960" y="3630168"/>
            <a:ext cx="105457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Informationen über den Max-Drawdown der Folgeperiode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Aktien-Risikoampel</a:t>
            </a:r>
            <a:endParaRPr lang="de-DE" dirty="0"/>
          </a:p>
        </p:txBody>
      </p:sp>
      <p:sp>
        <p:nvSpPr>
          <p:cNvPr id="16" name="Text 14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15 / 24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F08229AF-7EE0-56A2-1240-D3A6428C9E9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INDIKATOREN &amp; ERKENNTNISSE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Erkenntnisse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Bezug: S&amp;P 500 — Analysen zu den anderen Indizes liefern ähnliche Ergebnisse</a:t>
            </a:r>
            <a:endParaRPr lang="en-US" sz="115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1004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57696" y="2052119"/>
            <a:ext cx="4191935" cy="25617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690872"/>
            <a:ext cx="513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Marktbreite-Regime (&gt;/&lt; 50%)</a:t>
            </a:r>
            <a:endParaRPr lang="en-US" sz="1150"/>
          </a:p>
        </p:txBody>
      </p:sp>
      <p:sp>
        <p:nvSpPr>
          <p:cNvPr id="8" name="Shape 5"/>
          <p:cNvSpPr/>
          <p:nvPr/>
        </p:nvSpPr>
        <p:spPr>
          <a:xfrm>
            <a:off x="6233008" y="1828800"/>
            <a:ext cx="541004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9" name="Image 1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78034" y="1938528"/>
            <a:ext cx="4119995" cy="2788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70168" y="4690872"/>
            <a:ext cx="513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Marktbreite in Quartilen</a:t>
            </a:r>
            <a:endParaRPr lang="en-US" sz="1150"/>
          </a:p>
        </p:txBody>
      </p:sp>
      <p:sp>
        <p:nvSpPr>
          <p:cNvPr id="11" name="Shape 7"/>
          <p:cNvSpPr/>
          <p:nvPr/>
        </p:nvSpPr>
        <p:spPr>
          <a:xfrm>
            <a:off x="548640" y="5303520"/>
            <a:ext cx="11094415" cy="86868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8"/>
          <p:cNvSpPr/>
          <p:nvPr/>
        </p:nvSpPr>
        <p:spPr>
          <a:xfrm>
            <a:off x="822960" y="5303520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Fazit: </a:t>
            </a:r>
            <a:r>
              <a:rPr lang="en-US" sz="12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Grundsätzliche Eignung für eine Risikoampel bestätigt. Unter den geprüften Hypothesen haben sich vor allem diese zwei aufgrund ihrer Einfachheit und ihres Beitrags zur Reduzierung des Max-Drawdowns durchgesetzt.</a:t>
            </a:r>
            <a:endParaRPr lang="en-US" sz="125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Aktien-Risikoampel</a:t>
            </a:r>
            <a:endParaRPr lang="de-DE" dirty="0"/>
          </a:p>
        </p:txBody>
      </p:sp>
      <p:sp>
        <p:nvSpPr>
          <p:cNvPr id="14" name="Text 10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16 / 24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fik 22">
            <a:extLst>
              <a:ext uri="{FF2B5EF4-FFF2-40B4-BE49-F238E27FC236}">
                <a16:creationId xmlns:a16="http://schemas.microsoft.com/office/drawing/2014/main" id="{6E6C17FD-EEFD-FD03-542B-F425A1B086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4728"/>
          <a:stretch>
            <a:fillRect/>
          </a:stretch>
        </p:blipFill>
        <p:spPr>
          <a:xfrm>
            <a:off x="0" y="-18288"/>
            <a:ext cx="12192000" cy="14767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INDIKATOREN &amp; ERKENNTNISSE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Put-/Call-Ratio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75488" cy="47548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0" descr="icons/hel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53" y="1753453"/>
            <a:ext cx="351861" cy="3518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709928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das?</a:t>
            </a:r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1207008" y="2057400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Stellt Absicherungsbedürfnis vs. Spekulationsbedürfnis gegenüber.</a:t>
            </a:r>
            <a:endParaRPr lang="en-US" sz="1150"/>
          </a:p>
        </p:txBody>
      </p:sp>
      <p:sp>
        <p:nvSpPr>
          <p:cNvPr id="8" name="Shape 5"/>
          <p:cNvSpPr/>
          <p:nvPr/>
        </p:nvSpPr>
        <p:spPr>
          <a:xfrm>
            <a:off x="548640" y="2990088"/>
            <a:ext cx="475488" cy="47548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1" descr="icons/bar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53" y="3051901"/>
            <a:ext cx="351861" cy="3518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3008376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wird ausgedrückt?</a:t>
            </a:r>
            <a:endParaRPr lang="en-US" sz="1350"/>
          </a:p>
        </p:txBody>
      </p:sp>
      <p:sp>
        <p:nvSpPr>
          <p:cNvPr id="11" name="Text 7"/>
          <p:cNvSpPr/>
          <p:nvPr/>
        </p:nvSpPr>
        <p:spPr>
          <a:xfrm>
            <a:off x="1207008" y="3355848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Verhältnis zwischen gehandelten Put- und Call-Kontrakten.</a:t>
            </a:r>
            <a:endParaRPr lang="en-US" sz="1150"/>
          </a:p>
        </p:txBody>
      </p:sp>
      <p:sp>
        <p:nvSpPr>
          <p:cNvPr id="12" name="Shape 8"/>
          <p:cNvSpPr/>
          <p:nvPr/>
        </p:nvSpPr>
        <p:spPr>
          <a:xfrm>
            <a:off x="548640" y="4288536"/>
            <a:ext cx="475488" cy="475488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2" descr="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453" y="4350349"/>
            <a:ext cx="351861" cy="3518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4306824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ausgewählt?</a:t>
            </a:r>
            <a:endParaRPr lang="en-US" sz="1350"/>
          </a:p>
        </p:txBody>
      </p:sp>
      <p:sp>
        <p:nvSpPr>
          <p:cNvPr id="15" name="Text 10"/>
          <p:cNvSpPr/>
          <p:nvPr/>
        </p:nvSpPr>
        <p:spPr>
          <a:xfrm>
            <a:off x="1207008" y="4654296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Indikatorwerte deuten auf ein hohes Absicherungsbedürfnis und damit Unsicherheit/Panik am Markt hin.</a:t>
            </a:r>
            <a:endParaRPr lang="en-US" sz="1150"/>
          </a:p>
        </p:txBody>
      </p:sp>
      <p:sp>
        <p:nvSpPr>
          <p:cNvPr id="16" name="Shape 11"/>
          <p:cNvSpPr/>
          <p:nvPr/>
        </p:nvSpPr>
        <p:spPr>
          <a:xfrm>
            <a:off x="6263640" y="1691640"/>
            <a:ext cx="5379415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7" name="Image 3" descr="cropped/image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1801368"/>
            <a:ext cx="5159959" cy="33691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0" y="5285232"/>
            <a:ext cx="51050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Put-/Call-Ratio (Equities)</a:t>
            </a:r>
            <a:endParaRPr lang="en-US" sz="1150"/>
          </a:p>
        </p:txBody>
      </p:sp>
      <p:sp>
        <p:nvSpPr>
          <p:cNvPr id="19" name="Text 1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Aktien-Risikoampel</a:t>
            </a:r>
            <a:endParaRPr lang="de-DE" dirty="0"/>
          </a:p>
        </p:txBody>
      </p:sp>
      <p:sp>
        <p:nvSpPr>
          <p:cNvPr id="20" name="Text 14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17 / 24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>
            <a:extLst>
              <a:ext uri="{FF2B5EF4-FFF2-40B4-BE49-F238E27FC236}">
                <a16:creationId xmlns:a16="http://schemas.microsoft.com/office/drawing/2014/main" id="{457F08CC-B0AC-5751-9D8A-1899022267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INDIKATOREN &amp; ERKENNTNISSE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Hypothesen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Begrenzter</a:t>
            </a:r>
            <a:r>
              <a:rPr lang="en-US" sz="1150" i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Einblick</a:t>
            </a:r>
            <a:r>
              <a:rPr lang="en-US" sz="1150" i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ausgewählter</a:t>
            </a:r>
            <a:r>
              <a:rPr lang="en-US" sz="1150" i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Hypothesen</a:t>
            </a:r>
            <a:endParaRPr lang="en-US" sz="115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4415" cy="61264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749808" y="2098548"/>
            <a:ext cx="347472" cy="347472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49808" y="20985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10088575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Put-/Call-Ratio </a:t>
            </a:r>
            <a:r>
              <a:rPr lang="en-US" sz="135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innerhalb</a:t>
            </a: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10-Tage-Dezil </a:t>
            </a:r>
            <a:r>
              <a:rPr lang="en-US" sz="135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ihrer</a:t>
            </a: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eigenen</a:t>
            </a: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historischen</a:t>
            </a: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Verteilung</a:t>
            </a: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liefert</a:t>
            </a: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94415" cy="61264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749808" y="2875788"/>
            <a:ext cx="347472" cy="347472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49808" y="28757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1325880" y="2743200"/>
            <a:ext cx="10088575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Schlusskurse in der Nähe von Extremwerten (Hochs) bestätigen das Signal und liefern …</a:t>
            </a:r>
            <a:endParaRPr lang="en-US" sz="1350"/>
          </a:p>
        </p:txBody>
      </p:sp>
      <p:sp>
        <p:nvSpPr>
          <p:cNvPr id="13" name="Shape 11"/>
          <p:cNvSpPr/>
          <p:nvPr/>
        </p:nvSpPr>
        <p:spPr>
          <a:xfrm>
            <a:off x="548640" y="3630168"/>
            <a:ext cx="11094415" cy="594360"/>
          </a:xfrm>
          <a:prstGeom prst="rect">
            <a:avLst/>
          </a:prstGeom>
          <a:solidFill>
            <a:srgbClr val="16233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22960" y="3630168"/>
            <a:ext cx="105457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Informationen über den Max-Drawdown der Folgeperiode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Aktien-Risikoampel</a:t>
            </a:r>
            <a:endParaRPr lang="de-DE" dirty="0"/>
          </a:p>
        </p:txBody>
      </p:sp>
      <p:sp>
        <p:nvSpPr>
          <p:cNvPr id="16" name="Text 14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18 / 24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76349E84-E491-CF57-CB8E-8089F87F816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INDIKATOREN &amp; ERKENNTNISSE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Erkenntnisse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Bezug: S&amp;P 500 — Analysen zu den anderen Indizes liefern ähnliche Ergebnisse</a:t>
            </a:r>
            <a:endParaRPr lang="en-US" sz="115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1004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685800" y="4690872"/>
            <a:ext cx="513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innerhalb oberstem Dezil</a:t>
            </a:r>
            <a:endParaRPr lang="en-US" sz="1150"/>
          </a:p>
        </p:txBody>
      </p:sp>
      <p:sp>
        <p:nvSpPr>
          <p:cNvPr id="8" name="Shape 5"/>
          <p:cNvSpPr/>
          <p:nvPr/>
        </p:nvSpPr>
        <p:spPr>
          <a:xfrm>
            <a:off x="6233008" y="1828800"/>
            <a:ext cx="541004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6"/>
          <p:cNvSpPr/>
          <p:nvPr/>
        </p:nvSpPr>
        <p:spPr>
          <a:xfrm>
            <a:off x="6370168" y="4690872"/>
            <a:ext cx="513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Bestätigung von Extrem-Hochs</a:t>
            </a:r>
            <a:endParaRPr lang="en-US" sz="1150"/>
          </a:p>
        </p:txBody>
      </p:sp>
      <p:sp>
        <p:nvSpPr>
          <p:cNvPr id="11" name="Shape 7"/>
          <p:cNvSpPr/>
          <p:nvPr/>
        </p:nvSpPr>
        <p:spPr>
          <a:xfrm>
            <a:off x="548640" y="5303520"/>
            <a:ext cx="11094415" cy="86868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8"/>
          <p:cNvSpPr/>
          <p:nvPr/>
        </p:nvSpPr>
        <p:spPr>
          <a:xfrm>
            <a:off x="822960" y="5303520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Put-/Call-Ratios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lassen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unterschiedliche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Instrumente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beziehen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Sentiment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übergeordnet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 Markt.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Hypothesen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leisten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genommen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einen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positiven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Beitrag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Reduzierung</a:t>
            </a:r>
            <a:r>
              <a:rPr lang="en-US" sz="1250" dirty="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Max-Drawdowns.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Aktien-Risikoampel</a:t>
            </a:r>
            <a:endParaRPr lang="de-DE" dirty="0"/>
          </a:p>
        </p:txBody>
      </p:sp>
      <p:sp>
        <p:nvSpPr>
          <p:cNvPr id="14" name="Text 10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19 / 24</a:t>
            </a:r>
            <a:endParaRPr lang="en-US" sz="9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BFC2B44-2CCB-7D88-91A2-2C978D485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349" y="1990839"/>
            <a:ext cx="4405256" cy="26376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C44A97-3FC2-E239-549E-E91E65B6C1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5644" y="1986421"/>
            <a:ext cx="4294398" cy="263727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rafik 32">
            <a:extLst>
              <a:ext uri="{FF2B5EF4-FFF2-40B4-BE49-F238E27FC236}">
                <a16:creationId xmlns:a16="http://schemas.microsoft.com/office/drawing/2014/main" id="{639074F4-9A16-291F-48A7-0FBCBA7964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KOMBINIERTE RISIKOAMPEL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 err="1">
                <a:solidFill>
                  <a:srgbClr val="1B2A4A"/>
                </a:solidFill>
                <a:latin typeface="Cambria"/>
                <a:ea typeface="Cambria"/>
                <a:cs typeface="Cambria" pitchFamily="34" charset="-120"/>
              </a:rPr>
              <a:t>Kombinierte</a:t>
            </a: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1B2A4A"/>
                </a:solidFill>
                <a:latin typeface="Cambria"/>
                <a:ea typeface="Cambria"/>
                <a:cs typeface="Cambria" pitchFamily="34" charset="-120"/>
              </a:rPr>
              <a:t>Risikoampel</a:t>
            </a:r>
            <a:endParaRPr lang="en-US" sz="3000" b="1" err="1">
              <a:solidFill>
                <a:srgbClr val="1B2A4A"/>
              </a:solidFill>
              <a:latin typeface="Cambria"/>
              <a:ea typeface="Cambr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550742" y="2098206"/>
            <a:ext cx="91440" cy="91440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04672" y="1791088"/>
            <a:ext cx="5047488" cy="7304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Universelle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Logik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— für alle 4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Indizes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gleichermaßen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anwendbar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2468105"/>
            <a:ext cx="91440" cy="91440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804672" y="2206700"/>
            <a:ext cx="5047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Verständliche Ampel (Grün/Gelb/Rot) pro Handelstag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AUSGANGSBASIS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539496" y="3905013"/>
            <a:ext cx="91440" cy="91440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804672" y="3703320"/>
            <a:ext cx="5047488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600"/>
              </a:lnSpc>
            </a:pP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Einzelsignale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abgeleitet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aus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den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Hypothesen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der 4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Indikator-Familien</a:t>
            </a:r>
            <a:endParaRPr lang="en-US" sz="1300" err="1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31123" y="4294142"/>
            <a:ext cx="91440" cy="91440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87155" y="4092974"/>
            <a:ext cx="5047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Schwellenwerte trennen Grün/Gelb/Rot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548640" y="2848024"/>
            <a:ext cx="91440" cy="91440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Shape 14"/>
          <p:cNvSpPr/>
          <p:nvPr/>
        </p:nvSpPr>
        <p:spPr>
          <a:xfrm>
            <a:off x="526393" y="4652439"/>
            <a:ext cx="91440" cy="91440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804672" y="2646470"/>
            <a:ext cx="5047488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mind. 1 Signal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aus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Trend,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Marktbreite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Volatilität</a:t>
            </a:r>
            <a:endParaRPr lang="en-US" sz="1300" err="1">
              <a:latin typeface="Calibri"/>
              <a:ea typeface="Calibri"/>
              <a:cs typeface="Calibri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787155" y="4440656"/>
            <a:ext cx="5047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>
                <a:solidFill>
                  <a:srgbClr val="33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Train/Test-Split: Suche bis 2019, unabhängige Validierung ab 2020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6492240" y="1645920"/>
            <a:ext cx="5150815" cy="4023360"/>
          </a:xfrm>
          <a:prstGeom prst="rect">
            <a:avLst/>
          </a:prstGeom>
          <a:solidFill>
            <a:srgbClr val="16233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812280" y="1874520"/>
            <a:ext cx="4510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Belastungsgrad → Ampelstatus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6812280" y="2423160"/>
            <a:ext cx="365760" cy="365760"/>
          </a:xfrm>
          <a:prstGeom prst="ellipse">
            <a:avLst/>
          </a:prstGeom>
          <a:solidFill>
            <a:srgbClr val="4C8C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7360920" y="2368296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60920" y="2642616"/>
            <a:ext cx="3962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EB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wenige/keine belasteten Signale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6812280" y="3291840"/>
            <a:ext cx="365760" cy="36576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7360920" y="3236976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Gelb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7360920" y="3511296"/>
            <a:ext cx="3962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EB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gemischte Signallage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6812280" y="4160520"/>
            <a:ext cx="365760" cy="365760"/>
          </a:xfrm>
          <a:prstGeom prst="ellipse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7360920" y="4105656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7360920" y="4379976"/>
            <a:ext cx="3962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EB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mehrheitlich belastete Signale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Aktien-Risikoampel</a:t>
            </a:r>
            <a:endParaRPr lang="de-DE" dirty="0"/>
          </a:p>
        </p:txBody>
      </p:sp>
      <p:sp>
        <p:nvSpPr>
          <p:cNvPr id="30" name="Text 28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20 / 24</a:t>
            </a:r>
            <a:endParaRPr lang="en-US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fik 29">
            <a:extLst>
              <a:ext uri="{FF2B5EF4-FFF2-40B4-BE49-F238E27FC236}">
                <a16:creationId xmlns:a16="http://schemas.microsoft.com/office/drawing/2014/main" id="{DC08D9BF-8C55-8DE2-A26E-8F4EA009735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KOMBINIERTE RISIKOAMPEL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 err="1">
                <a:solidFill>
                  <a:srgbClr val="1B2A4A"/>
                </a:solidFill>
                <a:latin typeface="Cambria"/>
                <a:ea typeface="Cambria"/>
              </a:rPr>
              <a:t>Kombinierte</a:t>
            </a: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</a:rPr>
              <a:t> </a:t>
            </a:r>
            <a:r>
              <a:rPr lang="en-US" sz="3000" b="1" err="1">
                <a:solidFill>
                  <a:srgbClr val="1B2A4A"/>
                </a:solidFill>
                <a:latin typeface="Cambria"/>
                <a:ea typeface="Cambria"/>
              </a:rPr>
              <a:t>Risikoampel</a:t>
            </a: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</a:rPr>
              <a:t> - </a:t>
            </a:r>
            <a:r>
              <a:rPr lang="en-US" sz="3000" b="1" err="1">
                <a:solidFill>
                  <a:srgbClr val="1B2A4A"/>
                </a:solidFill>
                <a:latin typeface="Cambria"/>
                <a:ea typeface="Cambria"/>
              </a:rPr>
              <a:t>Methodik</a:t>
            </a:r>
            <a:endParaRPr lang="en-US" sz="3000" err="1">
              <a:solidFill>
                <a:srgbClr val="000000"/>
              </a:solidFill>
              <a:latin typeface="Cambria"/>
              <a:ea typeface="Cambr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2433" y="1600200"/>
            <a:ext cx="11050622" cy="107573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22960" y="1764792"/>
            <a:ext cx="10545775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b="1" kern="0" spc="100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Für alle </a:t>
            </a:r>
            <a:r>
              <a:rPr lang="en-US" sz="1150" b="1" kern="0" spc="100" err="1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möglichen</a:t>
            </a:r>
            <a:r>
              <a:rPr lang="en-US" sz="1150" b="1" kern="0" spc="100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b="1" kern="0" spc="100" err="1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Kombinationen</a:t>
            </a:r>
            <a:r>
              <a:rPr lang="en-US" sz="1150" b="1" kern="0" spc="100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 von </a:t>
            </a:r>
            <a:r>
              <a:rPr lang="en-US" sz="1150" b="1" kern="0" spc="100" err="1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Signalen</a:t>
            </a:r>
            <a:r>
              <a:rPr lang="en-US" sz="1150" b="1" kern="0" spc="100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b="1" kern="0" spc="100" err="1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wurde</a:t>
            </a:r>
            <a:r>
              <a:rPr lang="en-US" sz="1150" b="1" kern="0" spc="100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b="1" kern="0" spc="100" err="1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ermittelt</a:t>
            </a:r>
            <a:endParaRPr lang="de-DE" err="1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545775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 err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Wäre</a:t>
            </a: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man an </a:t>
            </a:r>
            <a:r>
              <a:rPr lang="en-US" sz="1400" b="1" err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allen</a:t>
            </a: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Rot-Tagen </a:t>
            </a:r>
            <a:r>
              <a:rPr lang="en-US" sz="1400" b="1" err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konsequent</a:t>
            </a: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err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ausgestiegen</a:t>
            </a: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00" b="1" err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wie</a:t>
            </a: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err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hätte</a:t>
            </a: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err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sich</a:t>
            </a: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das Depot </a:t>
            </a:r>
            <a:r>
              <a:rPr lang="en-US" sz="1400" b="1" err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entwickelt</a:t>
            </a: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?</a:t>
            </a:r>
            <a:endParaRPr lang="de-DE"/>
          </a:p>
        </p:txBody>
      </p:sp>
      <p:sp>
        <p:nvSpPr>
          <p:cNvPr id="26" name="Text 2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Aktien-Risikoampel</a:t>
            </a:r>
            <a:endParaRPr lang="de-DE" dirty="0"/>
          </a:p>
        </p:txBody>
      </p:sp>
      <p:sp>
        <p:nvSpPr>
          <p:cNvPr id="27" name="Text 23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21 / 24</a:t>
            </a:r>
            <a:endParaRPr lang="en-US" sz="90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C1AB8B1-D931-197D-A55B-E229CA632C63}"/>
              </a:ext>
            </a:extLst>
          </p:cNvPr>
          <p:cNvSpPr/>
          <p:nvPr/>
        </p:nvSpPr>
        <p:spPr>
          <a:xfrm>
            <a:off x="1214295" y="3091093"/>
            <a:ext cx="53035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150" err="1">
                <a:solidFill>
                  <a:srgbClr val="2C4A80"/>
                </a:solidFill>
                <a:ea typeface="Calibri"/>
                <a:cs typeface="Calibri"/>
              </a:rPr>
              <a:t>BEWERTUNGSMAßSTAB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5733834-A871-F617-8285-FFAEC2020B6A}"/>
              </a:ext>
            </a:extLst>
          </p:cNvPr>
          <p:cNvSpPr/>
          <p:nvPr/>
        </p:nvSpPr>
        <p:spPr>
          <a:xfrm>
            <a:off x="1470327" y="3236261"/>
            <a:ext cx="5047488" cy="7304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700"/>
              </a:lnSpc>
            </a:pPr>
            <a:endParaRPr lang="en-US" sz="1300">
              <a:solidFill>
                <a:srgbClr val="333D4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803A80A2-09E0-9F8E-AD11-0112A1767277}"/>
              </a:ext>
            </a:extLst>
          </p:cNvPr>
          <p:cNvSpPr/>
          <p:nvPr/>
        </p:nvSpPr>
        <p:spPr>
          <a:xfrm>
            <a:off x="2296877" y="4667633"/>
            <a:ext cx="5441625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700"/>
              </a:lnSpc>
            </a:pP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Er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belohnt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eine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gute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Rendite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bei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gleichzeit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möglichst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kleinen</a:t>
            </a:r>
            <a:r>
              <a:rPr lang="en-US" sz="1300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Verlustphasen</a:t>
            </a:r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ECF3785E-482E-906A-45B6-7071C4910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365" y="3773465"/>
            <a:ext cx="5935380" cy="8976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D9D78-5865-5DA4-CC52-DAC776B9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3">
            <a:extLst>
              <a:ext uri="{FF2B5EF4-FFF2-40B4-BE49-F238E27FC236}">
                <a16:creationId xmlns:a16="http://schemas.microsoft.com/office/drawing/2014/main" id="{FC721913-3765-BBCF-F91B-342AEA29AF53}"/>
              </a:ext>
            </a:extLst>
          </p:cNvPr>
          <p:cNvSpPr/>
          <p:nvPr/>
        </p:nvSpPr>
        <p:spPr>
          <a:xfrm>
            <a:off x="8814704" y="1842517"/>
            <a:ext cx="2601564" cy="197804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pPr fontAlgn="t"/>
            <a:endParaRPr lang="de-DE" sz="145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A267DE7C-7AA1-4F1A-0EAC-E59349903870}"/>
              </a:ext>
            </a:extLst>
          </p:cNvPr>
          <p:cNvSpPr/>
          <p:nvPr/>
        </p:nvSpPr>
        <p:spPr>
          <a:xfrm>
            <a:off x="6086644" y="1834127"/>
            <a:ext cx="2601564" cy="1986435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pPr fontAlgn="t"/>
            <a:endParaRPr lang="de-DE" sz="145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3CD35D6B-EBB7-0FEB-60DE-73AA9192B88E}"/>
              </a:ext>
            </a:extLst>
          </p:cNvPr>
          <p:cNvSpPr/>
          <p:nvPr/>
        </p:nvSpPr>
        <p:spPr>
          <a:xfrm>
            <a:off x="3358584" y="1834126"/>
            <a:ext cx="2601564" cy="1986435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pPr fontAlgn="t"/>
            <a:endParaRPr lang="de-DE" sz="145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DEF958C-21F6-5CF5-5235-2E63D13AB7E4}"/>
              </a:ext>
            </a:extLst>
          </p:cNvPr>
          <p:cNvSpPr/>
          <p:nvPr/>
        </p:nvSpPr>
        <p:spPr>
          <a:xfrm>
            <a:off x="630524" y="1834126"/>
            <a:ext cx="2601564" cy="198643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pPr fontAlgn="t"/>
            <a:endParaRPr lang="de-DE" sz="1450"/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8E8697F0-065C-7F8A-5E89-622A9FE9066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D8A65CFE-0408-F177-AC92-149DC9E91A2E}"/>
              </a:ext>
            </a:extLst>
          </p:cNvPr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KOMBINIERTE RISIKOAMPEL</a:t>
            </a:r>
            <a:endParaRPr lang="en-US" sz="11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62ACAE-135B-B773-20B3-560F77797893}"/>
              </a:ext>
            </a:extLst>
          </p:cNvPr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</a:t>
            </a:r>
            <a:endParaRPr lang="en-US"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33A10E-D395-ED28-8770-27241F5712B6}"/>
              </a:ext>
            </a:extLst>
          </p:cNvPr>
          <p:cNvSpPr/>
          <p:nvPr/>
        </p:nvSpPr>
        <p:spPr>
          <a:xfrm>
            <a:off x="538202" y="1513332"/>
            <a:ext cx="10545775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b="1" i="1" kern="0" spc="100" err="1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Gewählte</a:t>
            </a:r>
            <a:r>
              <a:rPr lang="en-US" sz="1150" b="1" i="1" kern="0" spc="100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b="1" i="1" kern="0" spc="100" err="1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Kombination</a:t>
            </a:r>
            <a:r>
              <a:rPr lang="en-US" sz="1150" b="1" i="1" kern="0" spc="100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 : 9 </a:t>
            </a:r>
            <a:r>
              <a:rPr lang="en-US" sz="1150" b="1" i="1" kern="0" spc="100" err="1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Signale</a:t>
            </a:r>
            <a:r>
              <a:rPr lang="en-US" sz="1150" b="1" i="1" kern="0" spc="100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b="1" i="1" kern="0" spc="100" err="1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aus</a:t>
            </a:r>
            <a:r>
              <a:rPr lang="en-US" sz="1150" b="1" i="1" kern="0" spc="100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 4 </a:t>
            </a:r>
            <a:r>
              <a:rPr lang="en-US" sz="1150" b="1" i="1" kern="0" spc="100" err="1">
                <a:solidFill>
                  <a:srgbClr val="2C4A80"/>
                </a:solidFill>
                <a:latin typeface="Calibri"/>
                <a:ea typeface="Calibri"/>
                <a:cs typeface="Calibri"/>
              </a:rPr>
              <a:t>Familien</a:t>
            </a:r>
            <a:endParaRPr lang="en-US" sz="1150" i="1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9668548-A53B-3094-AE1C-39B4F2D3EB9B}"/>
              </a:ext>
            </a:extLst>
          </p:cNvPr>
          <p:cNvSpPr/>
          <p:nvPr/>
        </p:nvSpPr>
        <p:spPr>
          <a:xfrm>
            <a:off x="548640" y="3863446"/>
            <a:ext cx="10545775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i="1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Schwellenwerte</a:t>
            </a:r>
            <a:r>
              <a:rPr lang="en-US" sz="1150" i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: Grün </a:t>
            </a:r>
            <a:r>
              <a:rPr lang="en-US" sz="1150" i="1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bei</a:t>
            </a:r>
            <a:r>
              <a:rPr lang="en-US" sz="1150" i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0 %, Rot ab 75 % </a:t>
            </a:r>
            <a:r>
              <a:rPr lang="en-US" sz="1150" i="1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schlechten</a:t>
            </a:r>
            <a:r>
              <a:rPr lang="en-US" sz="1150" i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i="1" err="1">
                <a:solidFill>
                  <a:srgbClr val="333D4D"/>
                </a:solidFill>
                <a:latin typeface="Calibri"/>
                <a:ea typeface="Calibri"/>
                <a:cs typeface="Calibri"/>
              </a:rPr>
              <a:t>Signalen</a:t>
            </a:r>
            <a:endParaRPr lang="en-US" sz="1150" i="1">
              <a:solidFill>
                <a:srgbClr val="333D4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F87C79A2-AAF1-3D33-73FC-E47FEFF4D38F}"/>
              </a:ext>
            </a:extLst>
          </p:cNvPr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Aktien-Risikoampel</a:t>
            </a:r>
            <a:endParaRPr lang="de-DE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74794331-CF57-E1C5-37F8-9D72FAAB4ED3}"/>
              </a:ext>
            </a:extLst>
          </p:cNvPr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22 / 24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E73AE37-534A-4723-5A17-0DE11C07D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964683"/>
              </p:ext>
            </p:extLst>
          </p:nvPr>
        </p:nvGraphicFramePr>
        <p:xfrm>
          <a:off x="1696859" y="4323776"/>
          <a:ext cx="8348472" cy="18745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anchor="ctr"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CAGR </a:t>
                      </a:r>
                      <a:r>
                        <a:rPr sz="1100" b="1" err="1">
                          <a:solidFill>
                            <a:srgbClr val="FFFFFF"/>
                          </a:solidFill>
                          <a:latin typeface="Calibri"/>
                        </a:rPr>
                        <a:t>Strategie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 (Buy &amp; Hold)</a:t>
                      </a:r>
                    </a:p>
                  </a:txBody>
                  <a:tcPr anchor="ctr"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b="1">
                          <a:solidFill>
                            <a:srgbClr val="FFFFFF"/>
                          </a:solidFill>
                          <a:latin typeface="Calibri"/>
                        </a:rPr>
                        <a:t>MaxDD Strategie (Buy &amp; Hold)</a:t>
                      </a:r>
                      <a:endParaRPr lang="de-DE" sz="11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6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Cambria"/>
                        </a:rPr>
                        <a:t>S&amp;P 500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1B2A4A"/>
                          </a:solidFill>
                          <a:latin typeface="Calibri"/>
                        </a:rPr>
                        <a:t>11,6 % (9,7 %)</a:t>
                      </a:r>
                      <a:endParaRPr lang="en-US" sz="1200" b="0" dirty="0">
                        <a:solidFill>
                          <a:srgbClr val="1B2A4A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1B2A4A"/>
                          </a:solidFill>
                          <a:latin typeface="Calibri"/>
                        </a:rPr>
                        <a:t>-20,4 % (-52,6 %)</a:t>
                      </a:r>
                      <a:endParaRPr lang="en-US" sz="1200" b="0" dirty="0">
                        <a:solidFill>
                          <a:srgbClr val="1B2A4A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Cambria"/>
                        </a:rPr>
                        <a:t>Dow Jones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1B2A4A"/>
                          </a:solidFill>
                          <a:latin typeface="Calibri"/>
                        </a:rPr>
                        <a:t>10,0 % (10,4 %)</a:t>
                      </a:r>
                      <a:endParaRPr lang="en-US" sz="1200" b="0" dirty="0">
                        <a:solidFill>
                          <a:srgbClr val="1B2A4A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-20,4 % (-37,1 %)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Cambria"/>
                        </a:rPr>
                        <a:t>NASDAQ 100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1B2A4A"/>
                          </a:solidFill>
                          <a:latin typeface="Calibri"/>
                        </a:rPr>
                        <a:t>16,1 % (15,1 %)</a:t>
                      </a:r>
                      <a:endParaRPr lang="en-US" sz="1200" b="0" dirty="0">
                        <a:solidFill>
                          <a:srgbClr val="1B2A4A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1B2A4A"/>
                          </a:solidFill>
                          <a:latin typeface="Calibri"/>
                        </a:rPr>
                        <a:t>-29,2 % (-49,6 %)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Cambria"/>
                        </a:rPr>
                        <a:t>Russell 2000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1B2A4A"/>
                          </a:solidFill>
                          <a:latin typeface="Calibri"/>
                        </a:rPr>
                        <a:t>8,0 % (8,2 %)</a:t>
                      </a:r>
                      <a:endParaRPr lang="en-US" sz="1200" b="0" dirty="0">
                        <a:solidFill>
                          <a:srgbClr val="1B2A4A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B2A4A"/>
                          </a:solidFill>
                          <a:latin typeface="Calibri"/>
                        </a:rPr>
                        <a:t>-42,1 % (-</a:t>
                      </a:r>
                      <a:r>
                        <a:rPr lang="de-DE" sz="1200" b="0" dirty="0">
                          <a:solidFill>
                            <a:srgbClr val="1B2A4A"/>
                          </a:solidFill>
                          <a:latin typeface="Calibri"/>
                        </a:rPr>
                        <a:t>43</a:t>
                      </a:r>
                      <a:r>
                        <a:rPr sz="1200" b="0" dirty="0">
                          <a:solidFill>
                            <a:srgbClr val="1B2A4A"/>
                          </a:solidFill>
                          <a:latin typeface="Calibri"/>
                        </a:rPr>
                        <a:t>,</a:t>
                      </a:r>
                      <a:r>
                        <a:rPr lang="de-DE" sz="1200" b="0" dirty="0">
                          <a:solidFill>
                            <a:srgbClr val="1B2A4A"/>
                          </a:solidFill>
                          <a:latin typeface="Calibri"/>
                        </a:rPr>
                        <a:t>1</a:t>
                      </a:r>
                      <a:r>
                        <a:rPr sz="1200" b="0" dirty="0">
                          <a:solidFill>
                            <a:srgbClr val="1B2A4A"/>
                          </a:solidFill>
                          <a:latin typeface="Calibri"/>
                        </a:rPr>
                        <a:t> 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feld 18">
            <a:extLst>
              <a:ext uri="{FF2B5EF4-FFF2-40B4-BE49-F238E27FC236}">
                <a16:creationId xmlns:a16="http://schemas.microsoft.com/office/drawing/2014/main" id="{460FC180-A309-AACF-488A-79A4AFBA8435}"/>
              </a:ext>
            </a:extLst>
          </p:cNvPr>
          <p:cNvSpPr txBox="1"/>
          <p:nvPr/>
        </p:nvSpPr>
        <p:spPr>
          <a:xfrm>
            <a:off x="1056142" y="2382612"/>
            <a:ext cx="201213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Kurs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unter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 SMA 20</a:t>
            </a:r>
            <a:endParaRPr lang="de-DE" sz="1100">
              <a:solidFill>
                <a:srgbClr val="6B7484"/>
              </a:solidFill>
              <a:latin typeface="Calibri" pitchFamily="34" charset="0"/>
              <a:cs typeface="Calibri" pitchFamily="34" charset="-120"/>
            </a:endParaRPr>
          </a:p>
          <a:p>
            <a:pPr fontAlgn="t"/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Kurs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unter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 SMA 100</a:t>
            </a:r>
            <a:endParaRPr lang="de-DE" sz="1100">
              <a:solidFill>
                <a:srgbClr val="6B7484"/>
              </a:solidFill>
              <a:latin typeface="Calibri" pitchFamily="34" charset="0"/>
              <a:cs typeface="Calibri" pitchFamily="34" charset="-120"/>
            </a:endParaRPr>
          </a:p>
          <a:p>
            <a:pPr fontAlgn="t"/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Kurs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unter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 SMA 200</a:t>
            </a:r>
            <a:endParaRPr lang="de-DE" sz="1100">
              <a:solidFill>
                <a:srgbClr val="6B7484"/>
              </a:solidFill>
              <a:latin typeface="Calibri" pitchFamily="34" charset="0"/>
              <a:cs typeface="Calibri" pitchFamily="34" charset="-120"/>
            </a:endParaRPr>
          </a:p>
          <a:p>
            <a:pPr fontAlgn="t"/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SMA 20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fällt</a:t>
            </a:r>
            <a:endParaRPr lang="de-DE" sz="1100">
              <a:solidFill>
                <a:srgbClr val="6B7484"/>
              </a:solidFill>
              <a:latin typeface="Calibri" pitchFamily="34" charset="0"/>
              <a:cs typeface="Calibri" pitchFamily="34" charset="-120"/>
            </a:endParaRPr>
          </a:p>
          <a:p>
            <a:pPr fontAlgn="t"/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SMA 100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fällt</a:t>
            </a:r>
            <a:endParaRPr lang="de-DE" sz="1100">
              <a:solidFill>
                <a:srgbClr val="6B7484"/>
              </a:solidFill>
              <a:latin typeface="Calibri" pitchFamily="34" charset="0"/>
              <a:cs typeface="Calibri" pitchFamily="34" charset="-120"/>
            </a:endParaRPr>
          </a:p>
          <a:p>
            <a:pPr fontAlgn="t"/>
            <a:r>
              <a:rPr lang="en-US" sz="110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Im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 Death-Cross-Regime (SMA20 &lt; SMA200)</a:t>
            </a:r>
            <a:endParaRPr lang="de-DE" sz="1100">
              <a:solidFill>
                <a:srgbClr val="6B748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376C0E3-E85B-45F1-17CE-4A9980836A92}"/>
              </a:ext>
            </a:extLst>
          </p:cNvPr>
          <p:cNvSpPr txBox="1"/>
          <p:nvPr/>
        </p:nvSpPr>
        <p:spPr>
          <a:xfrm>
            <a:off x="925240" y="1950634"/>
            <a:ext cx="2012132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de-DE" sz="1450" b="1"/>
              <a:t>Gleitender Durchschnitt</a:t>
            </a:r>
            <a:endParaRPr lang="de-DE" sz="145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1AB6CBD-42D8-256A-267C-4CE2BC4A95C3}"/>
              </a:ext>
            </a:extLst>
          </p:cNvPr>
          <p:cNvSpPr txBox="1"/>
          <p:nvPr/>
        </p:nvSpPr>
        <p:spPr>
          <a:xfrm>
            <a:off x="3601651" y="2513060"/>
            <a:ext cx="21735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&lt; 50 % der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Mitglieder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über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 SMA 20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FF562237-E6B8-AC6A-516E-5994AE94FA02}"/>
              </a:ext>
            </a:extLst>
          </p:cNvPr>
          <p:cNvSpPr txBox="1"/>
          <p:nvPr/>
        </p:nvSpPr>
        <p:spPr>
          <a:xfrm>
            <a:off x="6741813" y="2508917"/>
            <a:ext cx="12912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10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Über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 Rot-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Schwelle</a:t>
            </a:r>
            <a:endParaRPr lang="en-US" sz="1100">
              <a:solidFill>
                <a:srgbClr val="6B748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0A7AD016-6B4B-2623-32BB-D3BB4D345FD0}"/>
              </a:ext>
            </a:extLst>
          </p:cNvPr>
          <p:cNvSpPr txBox="1"/>
          <p:nvPr/>
        </p:nvSpPr>
        <p:spPr>
          <a:xfrm>
            <a:off x="9453271" y="2508917"/>
            <a:ext cx="11841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100" dirty="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Im</a:t>
            </a:r>
            <a:r>
              <a:rPr lang="en-US" sz="1100" dirty="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 </a:t>
            </a:r>
            <a:r>
              <a:rPr lang="en-US" sz="1100" dirty="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obersten</a:t>
            </a:r>
            <a:r>
              <a:rPr lang="en-US" sz="1100" dirty="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Dezil</a:t>
            </a:r>
            <a:endParaRPr lang="de-DE" sz="1100" dirty="0">
              <a:solidFill>
                <a:srgbClr val="6B748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1F9D7CB1-6AF2-60E6-2A22-0FD3D6DDADF8}"/>
              </a:ext>
            </a:extLst>
          </p:cNvPr>
          <p:cNvSpPr txBox="1"/>
          <p:nvPr/>
        </p:nvSpPr>
        <p:spPr>
          <a:xfrm>
            <a:off x="4072551" y="1950634"/>
            <a:ext cx="1173629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de-DE" sz="1450" b="1"/>
              <a:t>Marktbreite</a:t>
            </a:r>
            <a:endParaRPr lang="de-DE" sz="1450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5FA1526-74EC-11C9-3907-EB8CE4A891A1}"/>
              </a:ext>
            </a:extLst>
          </p:cNvPr>
          <p:cNvSpPr txBox="1"/>
          <p:nvPr/>
        </p:nvSpPr>
        <p:spPr>
          <a:xfrm>
            <a:off x="6605659" y="1950634"/>
            <a:ext cx="15635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err="1">
                <a:ea typeface="Calibri"/>
                <a:cs typeface="Calibri"/>
              </a:rPr>
              <a:t>Volatilitätsindex</a:t>
            </a:r>
            <a:endParaRPr lang="de-DE" sz="1600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4B51087B-8A06-9008-1DD0-19C6B166AF48}"/>
              </a:ext>
            </a:extLst>
          </p:cNvPr>
          <p:cNvSpPr txBox="1"/>
          <p:nvPr/>
        </p:nvSpPr>
        <p:spPr>
          <a:xfrm>
            <a:off x="9297916" y="1939092"/>
            <a:ext cx="1494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ea typeface="Calibri"/>
                <a:cs typeface="Calibri"/>
              </a:rPr>
              <a:t>Put-/Call-Ratio</a:t>
            </a:r>
            <a:endParaRPr lang="de-DE" sz="16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11756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fik 31">
            <a:extLst>
              <a:ext uri="{FF2B5EF4-FFF2-40B4-BE49-F238E27FC236}">
                <a16:creationId xmlns:a16="http://schemas.microsoft.com/office/drawing/2014/main" id="{A385BE8D-DAC4-FA8C-F9A1-7F2C3C7BFC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STREAMLIT-DASHBOARD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Streamlit-Dashboard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51333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 der Risikoampel für die vier untersuchten Indizes.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2000250"/>
            <a:ext cx="11094415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27000" dist="38100" dir="5400000" algn="bl" rotWithShape="0">
              <a:srgbClr val="1B2A4A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2000250"/>
            <a:ext cx="11094415" cy="365760"/>
          </a:xfrm>
          <a:prstGeom prst="rect">
            <a:avLst/>
          </a:prstGeom>
          <a:solidFill>
            <a:srgbClr val="EDF0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31520" y="2128266"/>
            <a:ext cx="109728" cy="109728"/>
          </a:xfrm>
          <a:prstGeom prst="ellipse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950976" y="2128266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1170432" y="2128266"/>
            <a:ext cx="109728" cy="109728"/>
          </a:xfrm>
          <a:prstGeom prst="ellipse">
            <a:avLst/>
          </a:prstGeom>
          <a:solidFill>
            <a:srgbClr val="4C8C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554480" y="205511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streamlit-app · risikoampel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Aktien-Risikoampel</a:t>
            </a:r>
            <a:endParaRPr lang="de-DE" dirty="0"/>
          </a:p>
        </p:txBody>
      </p:sp>
      <p:sp>
        <p:nvSpPr>
          <p:cNvPr id="29" name="Text 27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23 / 24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pic>
        <p:nvPicPr>
          <p:cNvPr id="31" name="Grafik 30">
            <a:hlinkClick r:id="rId4"/>
            <a:extLst>
              <a:ext uri="{FF2B5EF4-FFF2-40B4-BE49-F238E27FC236}">
                <a16:creationId xmlns:a16="http://schemas.microsoft.com/office/drawing/2014/main" id="{79EA23D7-AC59-A165-D835-D8EED907E8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454" y="3093588"/>
            <a:ext cx="10570785" cy="19411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B88D4-47A2-2D33-EFF2-09D64DA5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C5CEF2CE-0C31-7A65-415B-1514F6E498B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55289"/>
          <a:stretch>
            <a:fillRect/>
          </a:stretch>
        </p:blipFill>
        <p:spPr>
          <a:xfrm>
            <a:off x="0" y="0"/>
            <a:ext cx="12192000" cy="1458468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FE4203DB-7790-56FA-2E54-8384E3D1BE21}"/>
              </a:ext>
            </a:extLst>
          </p:cNvPr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>
                <a:solidFill>
                  <a:srgbClr val="2C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FAZIT &amp; AUSBLICK</a:t>
            </a:r>
            <a:endParaRPr lang="en-US" sz="11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918B86-B6B9-C984-7B68-BD074531F7FF}"/>
              </a:ext>
            </a:extLst>
          </p:cNvPr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Ausblick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93511AE-F652-F112-2812-D46973BBCDB3}"/>
              </a:ext>
            </a:extLst>
          </p:cNvPr>
          <p:cNvSpPr/>
          <p:nvPr/>
        </p:nvSpPr>
        <p:spPr>
          <a:xfrm>
            <a:off x="548640" y="2084070"/>
            <a:ext cx="2567864" cy="35661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7C38477-5C62-9E21-AFC3-1BB5A4F675CB}"/>
              </a:ext>
            </a:extLst>
          </p:cNvPr>
          <p:cNvSpPr/>
          <p:nvPr/>
        </p:nvSpPr>
        <p:spPr>
          <a:xfrm>
            <a:off x="822960" y="2404110"/>
            <a:ext cx="594360" cy="594360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0" descr="icons/trending_white.png">
            <a:extLst>
              <a:ext uri="{FF2B5EF4-FFF2-40B4-BE49-F238E27FC236}">
                <a16:creationId xmlns:a16="http://schemas.microsoft.com/office/drawing/2014/main" id="{E4C11930-DA2E-645E-19ED-B4E591D3B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227" y="2481377"/>
            <a:ext cx="439826" cy="439826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C80D6EE3-4735-421D-AAD5-D35F37C8668B}"/>
              </a:ext>
            </a:extLst>
          </p:cNvPr>
          <p:cNvSpPr/>
          <p:nvPr/>
        </p:nvSpPr>
        <p:spPr>
          <a:xfrm>
            <a:off x="822960" y="3181350"/>
            <a:ext cx="2019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err="1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Ausweitung</a:t>
            </a:r>
            <a:r>
              <a:rPr lang="en-US" sz="1450"/>
              <a:t> </a:t>
            </a:r>
            <a:r>
              <a:rPr lang="en-US" sz="1450" b="1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Signal-Set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BE538E9-5710-15C6-A0D6-73252FA0CFAE}"/>
              </a:ext>
            </a:extLst>
          </p:cNvPr>
          <p:cNvSpPr/>
          <p:nvPr/>
        </p:nvSpPr>
        <p:spPr>
          <a:xfrm>
            <a:off x="822960" y="4050030"/>
            <a:ext cx="20192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Indizes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Anlageklassen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ausweiten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F979125-962D-F11C-E6DE-A44047350897}"/>
              </a:ext>
            </a:extLst>
          </p:cNvPr>
          <p:cNvSpPr/>
          <p:nvPr/>
        </p:nvSpPr>
        <p:spPr>
          <a:xfrm>
            <a:off x="6807124" y="2084070"/>
            <a:ext cx="2567864" cy="35661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346C6C7-D1A4-16AB-A398-9D8B7150FA40}"/>
              </a:ext>
            </a:extLst>
          </p:cNvPr>
          <p:cNvSpPr/>
          <p:nvPr/>
        </p:nvSpPr>
        <p:spPr>
          <a:xfrm>
            <a:off x="7081444" y="2404110"/>
            <a:ext cx="594360" cy="594360"/>
          </a:xfrm>
          <a:prstGeom prst="ellipse">
            <a:avLst/>
          </a:prstGeom>
          <a:solidFill>
            <a:srgbClr val="2C4A8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1" descr="icons/activity_white.png">
            <a:extLst>
              <a:ext uri="{FF2B5EF4-FFF2-40B4-BE49-F238E27FC236}">
                <a16:creationId xmlns:a16="http://schemas.microsoft.com/office/drawing/2014/main" id="{F28281C6-3E4D-038C-701D-7467F6B2F7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711" y="2481377"/>
            <a:ext cx="439826" cy="439826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442EC896-9F4F-20BA-5823-8D5AA0C2A8DE}"/>
              </a:ext>
            </a:extLst>
          </p:cNvPr>
          <p:cNvSpPr/>
          <p:nvPr/>
        </p:nvSpPr>
        <p:spPr>
          <a:xfrm>
            <a:off x="7081444" y="3181350"/>
            <a:ext cx="2019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endParaRPr lang="en-US" sz="145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696087B-DF09-F8B0-4957-8BFCDFB88DB3}"/>
              </a:ext>
            </a:extLst>
          </p:cNvPr>
          <p:cNvSpPr/>
          <p:nvPr/>
        </p:nvSpPr>
        <p:spPr>
          <a:xfrm>
            <a:off x="7081444" y="4050030"/>
            <a:ext cx="20192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Neben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Mustern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Risikoreduzierung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Indikatoren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Renditemaximierung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711C5C10-F602-86E5-8186-7A0BF1612319}"/>
              </a:ext>
            </a:extLst>
          </p:cNvPr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Aktien-Risikoampel</a:t>
            </a:r>
            <a:endParaRPr lang="de-DE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F7BB2848-6DE8-8DF2-4470-4BE2F6AB33B3}"/>
              </a:ext>
            </a:extLst>
          </p:cNvPr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</a:rPr>
              <a:t>24/ 24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5B0DB004-958F-06F5-386B-D5C34300BCBC}"/>
              </a:ext>
            </a:extLst>
          </p:cNvPr>
          <p:cNvSpPr/>
          <p:nvPr/>
        </p:nvSpPr>
        <p:spPr>
          <a:xfrm>
            <a:off x="7081444" y="3181350"/>
            <a:ext cx="2019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err="1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Renditemaximierung</a:t>
            </a:r>
            <a:endParaRPr lang="en-US" sz="1450" b="1">
              <a:solidFill>
                <a:srgbClr val="1B2A4A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CA46897-218F-EFA1-08DD-E5CC5C48AFCB}"/>
              </a:ext>
            </a:extLst>
          </p:cNvPr>
          <p:cNvSpPr/>
          <p:nvPr/>
        </p:nvSpPr>
        <p:spPr>
          <a:xfrm>
            <a:off x="3670224" y="2084070"/>
            <a:ext cx="2567864" cy="356616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811ACDA1-53C8-3038-B3FB-B1F531FCA169}"/>
              </a:ext>
            </a:extLst>
          </p:cNvPr>
          <p:cNvSpPr/>
          <p:nvPr/>
        </p:nvSpPr>
        <p:spPr>
          <a:xfrm>
            <a:off x="3944544" y="3181350"/>
            <a:ext cx="2019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endParaRPr lang="en-US" sz="145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30E0733C-D02E-2D75-C4BC-AEC9DBBAA7D5}"/>
              </a:ext>
            </a:extLst>
          </p:cNvPr>
          <p:cNvSpPr/>
          <p:nvPr/>
        </p:nvSpPr>
        <p:spPr>
          <a:xfrm>
            <a:off x="3944544" y="4050030"/>
            <a:ext cx="20192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US" sz="110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Benachrichtigung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sobald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ein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Wechsel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 der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Ampelfarbe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erfolgt</a:t>
            </a:r>
            <a:r>
              <a:rPr lang="en-US" sz="1100">
                <a:solidFill>
                  <a:srgbClr val="6B7484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110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AFBEDFE6-56B0-5B12-2A67-9EF03B1652DF}"/>
              </a:ext>
            </a:extLst>
          </p:cNvPr>
          <p:cNvSpPr/>
          <p:nvPr/>
        </p:nvSpPr>
        <p:spPr>
          <a:xfrm>
            <a:off x="3944544" y="3181350"/>
            <a:ext cx="2019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err="1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Benachrichtigung</a:t>
            </a:r>
            <a:r>
              <a:rPr lang="en-US" sz="1450" b="1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50" b="1" err="1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bei</a:t>
            </a:r>
            <a:r>
              <a:rPr lang="en-US" sz="1450" b="1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50" b="1" err="1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Ampelwechsel</a:t>
            </a:r>
            <a:endParaRPr lang="en-US" sz="1450" b="1">
              <a:solidFill>
                <a:srgbClr val="1B2A4A"/>
              </a:solidFill>
              <a:latin typeface="Calibri" pitchFamily="34" charset="0"/>
              <a:cs typeface="Calibri" pitchFamily="34" charset="-120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4BDC9211-6CFE-2224-4DF0-F8F131F6FA81}"/>
              </a:ext>
            </a:extLst>
          </p:cNvPr>
          <p:cNvGrpSpPr/>
          <p:nvPr/>
        </p:nvGrpSpPr>
        <p:grpSpPr>
          <a:xfrm>
            <a:off x="3944544" y="2404110"/>
            <a:ext cx="594360" cy="594360"/>
            <a:chOff x="548640" y="1691640"/>
            <a:chExt cx="566928" cy="566928"/>
          </a:xfrm>
        </p:grpSpPr>
        <p:sp>
          <p:nvSpPr>
            <p:cNvPr id="15" name="Shape 2">
              <a:extLst>
                <a:ext uri="{FF2B5EF4-FFF2-40B4-BE49-F238E27FC236}">
                  <a16:creationId xmlns:a16="http://schemas.microsoft.com/office/drawing/2014/main" id="{9A3497CD-5A2F-2AF3-D0E0-F83349349E9D}"/>
                </a:ext>
              </a:extLst>
            </p:cNvPr>
            <p:cNvSpPr/>
            <p:nvPr/>
          </p:nvSpPr>
          <p:spPr>
            <a:xfrm>
              <a:off x="548640" y="1691640"/>
              <a:ext cx="566928" cy="566928"/>
            </a:xfrm>
            <a:prstGeom prst="ellipse">
              <a:avLst/>
            </a:prstGeom>
            <a:solidFill>
              <a:srgbClr val="2C4A80"/>
            </a:solidFill>
            <a:ln/>
          </p:spPr>
          <p:txBody>
            <a:bodyPr/>
            <a:lstStyle/>
            <a:p>
              <a:endParaRPr lang="de-DE"/>
            </a:p>
          </p:txBody>
        </p:sp>
        <p:pic>
          <p:nvPicPr>
            <p:cNvPr id="17" name="Image 0" descr="icons/target_white.png">
              <a:extLst>
                <a:ext uri="{FF2B5EF4-FFF2-40B4-BE49-F238E27FC236}">
                  <a16:creationId xmlns:a16="http://schemas.microsoft.com/office/drawing/2014/main" id="{628E593D-2306-58BA-E511-6CDAE3F13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2341" y="1765341"/>
              <a:ext cx="419527" cy="4195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60006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7033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 für Ihre Aufmerksamkeit.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Aktien-Risikoampel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FC560A09EE6D140B54BA764C723900A" ma:contentTypeVersion="4" ma:contentTypeDescription="Ein neues Dokument erstellen." ma:contentTypeScope="" ma:versionID="7660bba405453aa3de6d38a02126906f">
  <xsd:schema xmlns:xsd="http://www.w3.org/2001/XMLSchema" xmlns:xs="http://www.w3.org/2001/XMLSchema" xmlns:p="http://schemas.microsoft.com/office/2006/metadata/properties" xmlns:ns3="b61cd77f-458a-4efd-a6bf-c4eb0836d2b4" targetNamespace="http://schemas.microsoft.com/office/2006/metadata/properties" ma:root="true" ma:fieldsID="c872c68200ab4af2793858f4f171d41b" ns3:_="">
    <xsd:import namespace="b61cd77f-458a-4efd-a6bf-c4eb0836d2b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1cd77f-458a-4efd-a6bf-c4eb0836d2b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EBF0C0D-EB74-409C-826E-2B3FC2F0A2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272C25-678F-47AA-BEA1-6F764E387B55}">
  <ds:schemaRefs>
    <ds:schemaRef ds:uri="b61cd77f-458a-4efd-a6bf-c4eb0836d2b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BD999B9-8D5E-4818-899B-6331ADD61479}">
  <ds:schemaRefs>
    <ds:schemaRef ds:uri="b61cd77f-458a-4efd-a6bf-c4eb0836d2b4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3592</Words>
  <Application>Microsoft Office PowerPoint</Application>
  <PresentationFormat>Breitbild</PresentationFormat>
  <Paragraphs>387</Paragraphs>
  <Slides>25</Slides>
  <Notes>25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Jennifer Klett</cp:lastModifiedBy>
  <cp:revision>2</cp:revision>
  <dcterms:created xsi:type="dcterms:W3CDTF">2026-08-17T12:37:49Z</dcterms:created>
  <dcterms:modified xsi:type="dcterms:W3CDTF">2026-08-21T10:03:34Z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0x010100BFC560A09EE6D140B54BA764C723900A</vt:lpwstr>
  </property>
</Properties>
</file>